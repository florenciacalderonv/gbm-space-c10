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combine cells from several donors, samples, or sequencing runs, the strongest signals in the data are often technical — which sample a cell came from — rather than biological. Integration removes that technical (batch) structure while keeping the real biology, so the same cell type from different samples lines up. This deck covers the principle, then the two methods the notebook uses — Harmony and scVI — and how they compare.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batch effects and biology are partly confounded. If donor identity drives the top axes of variation, naive clustering splits each cell type by donor — you get 'donor-A T cells' and 'donor-B T cells' as separate clusters, which is wrong. The goal of integration is to remove technical variation while preserving biological signal, so shared populations align across samples. Diagnose it visually: colour the UMAP by donor — separation by donor means biology is confounded by batch; good integration mixes donors within each cell type. Every method balances a tension: mix batches enough, but do not over-correct and merge genuinely distinct cell types. Because batch and biology are entangled, each method needs assumptions about how to tell them apart — that is where Harmony and scVI differ.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Harmony corrects an existing PCA embedding — it never revisits genes, it just moves points in PC space. It iterates two steps to convergence. Step 1, maximum-diversity soft clustering: it soft-clusters all cells (fuzzy k-means, partial memberships) but penalises clusters dominated by a single batch, so clusters correspond to cell types (which span batches) rather than to batches. Step 2, per-cluster correction: within each cluster it measures how far each batch's centroid sits from the cluster centroid — that offset is the batch effect for that cell type — and subtracts a membership-weighted version from each cell. The key idea is that the correction is cluster-specific, so a batch effect that looks different in T cells vs neurons is removed appropriately, rather than one global shift. It is linear-ish, has no neural network to train, runs in seconds on CPU, and stays in the interpretable PCA space — a great default. Limits: it can only correct what PCA captured, and it assumes the within-cell-type batch effect is roughly a location shift.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scVI throws out the PCA and models the raw UMI counts directly with a variational autoencoder. Generative story: each cell has an unobserved low-dimensional latent vector z capturing its biological state; a neural-network decoder maps z PLUS the batch label to the parameters of a negative-binomial count distribution for every gene, also accounting for library size. Because batch is fed in explicitly, the model can explain batch-driven differences through that input, leaving z batch-free — that is how integration happens. Training is variational inference: an encoder approximates the posterior over z, and we maximise the ELBO = reconstruction (does the NB decoder explain the observed counts?) minus a KL term keeping z near a standard-normal prior, via stochastic gradient descent over epochs. The output is the per-cell latent z, used like Harmony's embedding. Because it is a full probabilistic count model, you also get denoised expression, differential expression with uncertainty, and a whole family (scANVI for labels, totalVI for CITE-seq). It is non-linear and scales well but is GPU-preferred — slow on CPU at scale, which is why the course loads a precomputed full-data latent and only trains a small subsample as a proof of concept. It is more of a black box; results depend on architecture, epochs, and seed.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the rows: Model type — Harmony is iterative clustering plus a linear correction; scVI is a deep generative VAE. Input — Harmony corrects your PCA; scVI models raw counts with batch as a covariate. Speed — Harmony is fast and CPU-friendly (seconds); scVI is slower and GPU-preferred. Scalability — both scale, scVI especially to millions of cells. Extras — scVI gives denoising, DE, and uncertainty that Harmony cannot; Harmony's advantage is simplicity, robustness, and an interpretable space. Failure modes: Harmony can only fix what PCA saw and assumes shift-like batch effects; scVI can over- or under-correct and is sensitive to epochs and architecture. Practical rule: Harmony as a fast first pass, scVI when you have a GPU, large data, or want the generative extras.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actually judge integration — check two things at once. Mixing: do donors overlap? Quantify with the same-donor neighbour fraction — for each cell, the fraction of its k nearest neighbours from the same donor; it should drop from about 1.0 (no correction) toward each donor's global share (perfect mixing). Biology preserved: do known cell types still separate? Good integration improves mixing WITHOUT smearing distinct cell types together. In the notebook you run neighbours+UMAP on each embedding, colour by donor and by cell type, and compute that neighbour-purity metric; in the two-donor teaching run the methods perform comparably, so we proceed with Harmony (seconds vs minutes on CPU) but keep X_scvi so you can flip the INTEGRATION_METHOD flag and reproduce everything with scVI. One-line intuition: Harmony nudges points in PCA space so batches mix within each cell-type cluster; scVI learns a neural latent space of the counts in which the batch variable has been explained 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82296"/>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504688"/>
            <a:ext cx="12191695" cy="82296"/>
          </a:xfrm>
          <a:prstGeom prst="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8FA6C8"/>
                </a:solidFill>
                <a:latin typeface="Arial"/>
              </a:rPr>
              <a:t>DATA INTEGRATION IN SINGLE-CELL RNA-SEQ</a:t>
            </a:r>
          </a:p>
        </p:txBody>
      </p:sp>
      <p:sp>
        <p:nvSpPr>
          <p:cNvPr id="7" name="TextBox 6"/>
          <p:cNvSpPr txBox="1"/>
          <p:nvPr/>
        </p:nvSpPr>
        <p:spPr>
          <a:xfrm>
            <a:off x="822960" y="2286000"/>
            <a:ext cx="10515600" cy="1828800"/>
          </a:xfrm>
          <a:prstGeom prst="rect">
            <a:avLst/>
          </a:prstGeom>
          <a:noFill/>
        </p:spPr>
        <p:txBody>
          <a:bodyPr wrap="square" anchor="t" lIns="0" rIns="0" tIns="0" bIns="0">
            <a:spAutoFit/>
          </a:bodyPr>
          <a:lstStyle/>
          <a:p>
            <a:pPr algn="l">
              <a:lnSpc>
                <a:spcPct val="105000"/>
              </a:lnSpc>
              <a:spcBef>
                <a:spcPts val="0"/>
              </a:spcBef>
              <a:spcAft>
                <a:spcPts val="600"/>
              </a:spcAft>
            </a:pPr>
            <a:r>
              <a:rPr sz="4200" b="1">
                <a:solidFill>
                  <a:srgbClr val="FFFFFF"/>
                </a:solidFill>
                <a:latin typeface="Arial"/>
              </a:rPr>
              <a:t>Integrating single-cell data:</a:t>
            </a:r>
          </a:p>
          <a:p>
            <a:pPr algn="l">
              <a:lnSpc>
                <a:spcPct val="105000"/>
              </a:lnSpc>
              <a:spcBef>
                <a:spcPts val="0"/>
              </a:spcBef>
              <a:spcAft>
                <a:spcPts val="600"/>
              </a:spcAft>
            </a:pPr>
            <a:r>
              <a:rPr sz="4200" b="1">
                <a:solidFill>
                  <a:srgbClr val="6FB4F0"/>
                </a:solidFill>
                <a:latin typeface="Arial"/>
              </a:rPr>
              <a:t>Harmony</a:t>
            </a:r>
            <a:r>
              <a:rPr sz="4200" b="1">
                <a:solidFill>
                  <a:srgbClr val="FFFFFF"/>
                </a:solidFill>
                <a:latin typeface="Arial"/>
              </a:rPr>
              <a:t> &amp; </a:t>
            </a:r>
            <a:r>
              <a:rPr sz="4200" b="1">
                <a:solidFill>
                  <a:srgbClr val="D98FE0"/>
                </a:solidFill>
                <a:latin typeface="Arial"/>
              </a:rPr>
              <a:t>scVI</a:t>
            </a:r>
          </a:p>
        </p:txBody>
      </p:sp>
      <p:sp>
        <p:nvSpPr>
          <p:cNvPr id="8" name="TextBox 7"/>
          <p:cNvSpPr txBox="1"/>
          <p:nvPr/>
        </p:nvSpPr>
        <p:spPr>
          <a:xfrm>
            <a:off x="822960" y="4206240"/>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800" b="0">
                <a:solidFill>
                  <a:srgbClr val="B9C6D9"/>
                </a:solidFill>
                <a:latin typeface="Arial"/>
              </a:rPr>
              <a:t>Removing batch / donor effects while preserving biology</a:t>
            </a:r>
          </a:p>
        </p:txBody>
      </p:sp>
      <p:sp>
        <p:nvSpPr>
          <p:cNvPr id="9" name="TextBox 8"/>
          <p:cNvSpPr txBox="1"/>
          <p:nvPr/>
        </p:nvSpPr>
        <p:spPr>
          <a:xfrm>
            <a:off x="822960" y="5806440"/>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7E92B0"/>
                </a:solidFill>
                <a:latin typeface="Arial"/>
              </a:rPr>
              <a:t>Concept slides · CAJAL Neuromics 2026 · Project C10 (GBM spatial)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201168" cy="384048"/>
          </a:xfrm>
          <a:prstGeom prst="rect">
            <a:avLst/>
          </a:prstGeom>
          <a:solidFill>
            <a:srgbClr val="18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73152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500" b="1">
                <a:solidFill>
                  <a:srgbClr val="188A63"/>
                </a:solidFill>
                <a:latin typeface="Arial"/>
              </a:rPr>
              <a:t>THE PRINCIPLE</a:t>
            </a:r>
          </a:p>
        </p:txBody>
      </p:sp>
      <p:sp>
        <p:nvSpPr>
          <p:cNvPr id="5" name="TextBox 4"/>
          <p:cNvSpPr txBox="1"/>
          <p:nvPr/>
        </p:nvSpPr>
        <p:spPr>
          <a:xfrm>
            <a:off x="640080" y="932688"/>
            <a:ext cx="10972800" cy="1005840"/>
          </a:xfrm>
          <a:prstGeom prst="rect">
            <a:avLst/>
          </a:prstGeom>
          <a:noFill/>
        </p:spPr>
        <p:txBody>
          <a:bodyPr wrap="square" anchor="t" lIns="0" rIns="0" tIns="0" bIns="0">
            <a:spAutoFit/>
          </a:bodyPr>
          <a:lstStyle/>
          <a:p>
            <a:pPr algn="l">
              <a:lnSpc>
                <a:spcPct val="105000"/>
              </a:lnSpc>
              <a:spcBef>
                <a:spcPts val="0"/>
              </a:spcBef>
              <a:spcAft>
                <a:spcPts val="600"/>
              </a:spcAft>
            </a:pPr>
            <a:r>
              <a:rPr sz="3000" b="1">
                <a:solidFill>
                  <a:srgbClr val="1A202C"/>
                </a:solidFill>
                <a:latin typeface="Arial"/>
              </a:rPr>
              <a:t>Why integrate?</a:t>
            </a:r>
          </a:p>
        </p:txBody>
      </p:sp>
      <p:sp>
        <p:nvSpPr>
          <p:cNvPr id="6" name="TextBox 5"/>
          <p:cNvSpPr txBox="1"/>
          <p:nvPr/>
        </p:nvSpPr>
        <p:spPr>
          <a:xfrm>
            <a:off x="640080" y="1572768"/>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0">
                <a:solidFill>
                  <a:srgbClr val="5B6470"/>
                </a:solidFill>
                <a:latin typeface="Arial"/>
              </a:rPr>
              <a:t>Same cell type, different samples — should cluster by biology, not by batch</a:t>
            </a:r>
          </a:p>
        </p:txBody>
      </p:sp>
      <p:sp>
        <p:nvSpPr>
          <p:cNvPr id="7" name="TextBox 6"/>
          <p:cNvSpPr txBox="1"/>
          <p:nvPr/>
        </p:nvSpPr>
        <p:spPr>
          <a:xfrm>
            <a:off x="640080" y="2331720"/>
            <a:ext cx="5120640" cy="4114800"/>
          </a:xfrm>
          <a:prstGeom prst="rect">
            <a:avLst/>
          </a:prstGeom>
          <a:noFill/>
        </p:spPr>
        <p:txBody>
          <a:bodyPr wrap="square" anchor="t" lIns="0" rIns="0" tIns="0" bIns="0">
            <a:spAutoFit/>
          </a:bodyPr>
          <a:lstStyle/>
          <a:p>
            <a:pPr algn="l">
              <a:lnSpc>
                <a:spcPct val="108000"/>
              </a:lnSpc>
              <a:spcBef>
                <a:spcPts val="0"/>
              </a:spcBef>
              <a:spcAft>
                <a:spcPts val="1100"/>
              </a:spcAft>
            </a:pPr>
            <a:r>
              <a:rPr sz="1000" b="1">
                <a:solidFill>
                  <a:srgbClr val="188A63"/>
                </a:solidFill>
                <a:latin typeface="Arial"/>
              </a:rPr>
              <a:t>●  </a:t>
            </a:r>
            <a:r>
              <a:rPr sz="1500" b="0">
                <a:solidFill>
                  <a:srgbClr val="1A202C"/>
                </a:solidFill>
                <a:latin typeface="Arial"/>
              </a:rPr>
              <a:t>Multiple donors / samples / runs → technical differences = batch effects</a:t>
            </a:r>
          </a:p>
          <a:p>
            <a:pPr algn="l">
              <a:lnSpc>
                <a:spcPct val="108000"/>
              </a:lnSpc>
              <a:spcBef>
                <a:spcPts val="0"/>
              </a:spcBef>
              <a:spcAft>
                <a:spcPts val="1100"/>
              </a:spcAft>
            </a:pPr>
            <a:r>
              <a:rPr sz="1000" b="1">
                <a:solidFill>
                  <a:srgbClr val="188A63"/>
                </a:solidFill>
                <a:latin typeface="Arial"/>
              </a:rPr>
              <a:t>●  </a:t>
            </a:r>
            <a:r>
              <a:rPr sz="1500" b="0">
                <a:solidFill>
                  <a:srgbClr val="1A202C"/>
                </a:solidFill>
                <a:latin typeface="Arial"/>
              </a:rPr>
              <a:t>A T cell from donor A and donor B are the same cell type — they should mix</a:t>
            </a:r>
          </a:p>
          <a:p>
            <a:pPr algn="l">
              <a:lnSpc>
                <a:spcPct val="108000"/>
              </a:lnSpc>
              <a:spcBef>
                <a:spcPts val="0"/>
              </a:spcBef>
              <a:spcAft>
                <a:spcPts val="1100"/>
              </a:spcAft>
            </a:pPr>
            <a:r>
              <a:rPr sz="1000" b="1">
                <a:solidFill>
                  <a:srgbClr val="188A63"/>
                </a:solidFill>
                <a:latin typeface="Arial"/>
              </a:rPr>
              <a:t>●  </a:t>
            </a:r>
            <a:r>
              <a:rPr sz="1500" b="0">
                <a:solidFill>
                  <a:srgbClr val="1A202C"/>
                </a:solidFill>
                <a:latin typeface="Arial"/>
              </a:rPr>
              <a:t>Goal: remove technical variation, keep biological signal</a:t>
            </a:r>
          </a:p>
          <a:p>
            <a:pPr algn="l">
              <a:lnSpc>
                <a:spcPct val="108000"/>
              </a:lnSpc>
              <a:spcBef>
                <a:spcPts val="0"/>
              </a:spcBef>
              <a:spcAft>
                <a:spcPts val="1100"/>
              </a:spcAft>
            </a:pPr>
            <a:r>
              <a:rPr sz="1000" b="1">
                <a:solidFill>
                  <a:srgbClr val="188A63"/>
                </a:solidFill>
                <a:latin typeface="Arial"/>
              </a:rPr>
              <a:t>●  </a:t>
            </a:r>
            <a:r>
              <a:rPr sz="1500" b="0">
                <a:solidFill>
                  <a:srgbClr val="1A202C"/>
                </a:solidFill>
                <a:latin typeface="Arial"/>
              </a:rPr>
              <a:t>Integration aligns shared cell populations across samples</a:t>
            </a:r>
          </a:p>
        </p:txBody>
      </p:sp>
      <p:sp>
        <p:nvSpPr>
          <p:cNvPr id="8" name="Rounded Rectangle 7"/>
          <p:cNvSpPr/>
          <p:nvPr/>
        </p:nvSpPr>
        <p:spPr>
          <a:xfrm>
            <a:off x="6035040" y="2377440"/>
            <a:ext cx="2743200" cy="2331720"/>
          </a:xfrm>
          <a:prstGeom prst="roundRect">
            <a:avLst/>
          </a:prstGeom>
          <a:solidFill>
            <a:srgbClr val="F3F5F8"/>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2487168"/>
            <a:ext cx="2743200" cy="365760"/>
          </a:xfrm>
          <a:prstGeom prst="rect">
            <a:avLst/>
          </a:prstGeom>
          <a:noFill/>
        </p:spPr>
        <p:txBody>
          <a:bodyPr wrap="square" anchor="t" lIns="0" rIns="0" tIns="0" bIns="0">
            <a:spAutoFit/>
          </a:bodyPr>
          <a:lstStyle/>
          <a:p>
            <a:pPr algn="ctr">
              <a:lnSpc>
                <a:spcPct val="105000"/>
              </a:lnSpc>
              <a:spcBef>
                <a:spcPts val="0"/>
              </a:spcBef>
              <a:spcAft>
                <a:spcPts val="600"/>
              </a:spcAft>
            </a:pPr>
            <a:r>
              <a:rPr sz="1250" b="1">
                <a:solidFill>
                  <a:srgbClr val="1A202C"/>
                </a:solidFill>
                <a:latin typeface="Arial"/>
              </a:rPr>
              <a:t>Before: colored by donor</a:t>
            </a:r>
          </a:p>
        </p:txBody>
      </p:sp>
      <p:sp>
        <p:nvSpPr>
          <p:cNvPr id="10" name="Oval 9"/>
          <p:cNvSpPr/>
          <p:nvPr/>
        </p:nvSpPr>
        <p:spPr>
          <a:xfrm>
            <a:off x="7208278" y="4317560"/>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14668" y="3133930"/>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15695" y="4026976"/>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85649" y="344015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39375" y="3849809"/>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17652" y="3234757"/>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04747" y="355728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26574" y="438201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03178" y="376391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12922" y="338543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1545" y="305516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928315" y="345432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65839" y="424069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75060" y="378631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55317" y="305024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820972" y="320501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65852" y="438731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89297" y="326693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60300" y="411035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35323" y="426100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059921" y="4100737"/>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42974" y="4363027"/>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12784" y="3238600"/>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50379" y="3998420"/>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28356" y="374495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947609" y="428601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646" y="415803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843079" y="4228438"/>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65008" y="364984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07283" y="427984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29879" y="368495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741604" y="346283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011290" y="324530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268617" y="3385297"/>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173977" y="3442116"/>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306577" y="3986151"/>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61263" y="372766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71580" y="382394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713478" y="330256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964413" y="429880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952679" y="312090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01377" y="4013232"/>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171117" y="3280047"/>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143296" y="309811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975449" y="339210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745295" y="421834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555574" y="373399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227142" y="3353331"/>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35620" y="422532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896073" y="400090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498433" y="351452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703253" y="394028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537629" y="4326797"/>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590699" y="4017997"/>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490193" y="336822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195966" y="323302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615081" y="396597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867383" y="307671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234368" y="3225207"/>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599090" y="348962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035040" y="4343400"/>
            <a:ext cx="2743200" cy="320040"/>
          </a:xfrm>
          <a:prstGeom prst="rect">
            <a:avLst/>
          </a:prstGeom>
          <a:noFill/>
        </p:spPr>
        <p:txBody>
          <a:bodyPr wrap="square" anchor="t" lIns="0" rIns="0" tIns="0" bIns="0">
            <a:spAutoFit/>
          </a:bodyPr>
          <a:lstStyle/>
          <a:p>
            <a:pPr algn="ctr">
              <a:lnSpc>
                <a:spcPct val="105000"/>
              </a:lnSpc>
              <a:spcBef>
                <a:spcPts val="0"/>
              </a:spcBef>
              <a:spcAft>
                <a:spcPts val="600"/>
              </a:spcAft>
            </a:pPr>
            <a:r>
              <a:rPr sz="1200" b="1">
                <a:solidFill>
                  <a:srgbClr val="D94A3A"/>
                </a:solidFill>
                <a:latin typeface="Arial"/>
              </a:rPr>
              <a:t>SPLIT BY DONOR = bad</a:t>
            </a:r>
          </a:p>
        </p:txBody>
      </p:sp>
      <p:sp>
        <p:nvSpPr>
          <p:cNvPr id="71" name="Rounded Rectangle 70"/>
          <p:cNvSpPr/>
          <p:nvPr/>
        </p:nvSpPr>
        <p:spPr>
          <a:xfrm>
            <a:off x="9006840" y="2377440"/>
            <a:ext cx="2743200" cy="2331720"/>
          </a:xfrm>
          <a:prstGeom prst="roundRect">
            <a:avLst/>
          </a:prstGeom>
          <a:solidFill>
            <a:srgbClr val="F3F5F8"/>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06840" y="2487168"/>
            <a:ext cx="2743200" cy="365760"/>
          </a:xfrm>
          <a:prstGeom prst="rect">
            <a:avLst/>
          </a:prstGeom>
          <a:noFill/>
        </p:spPr>
        <p:txBody>
          <a:bodyPr wrap="square" anchor="t" lIns="0" rIns="0" tIns="0" bIns="0">
            <a:spAutoFit/>
          </a:bodyPr>
          <a:lstStyle/>
          <a:p>
            <a:pPr algn="ctr">
              <a:lnSpc>
                <a:spcPct val="105000"/>
              </a:lnSpc>
              <a:spcBef>
                <a:spcPts val="0"/>
              </a:spcBef>
              <a:spcAft>
                <a:spcPts val="600"/>
              </a:spcAft>
            </a:pPr>
            <a:r>
              <a:rPr sz="1250" b="1">
                <a:solidFill>
                  <a:srgbClr val="1A202C"/>
                </a:solidFill>
                <a:latin typeface="Arial"/>
              </a:rPr>
              <a:t>After integration</a:t>
            </a:r>
          </a:p>
        </p:txBody>
      </p:sp>
      <p:sp>
        <p:nvSpPr>
          <p:cNvPr id="73" name="Oval 72"/>
          <p:cNvSpPr/>
          <p:nvPr/>
        </p:nvSpPr>
        <p:spPr>
          <a:xfrm>
            <a:off x="9709765" y="4179860"/>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860831" y="3367372"/>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0370091" y="363404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655673" y="4099332"/>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635690" y="305640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992487" y="361110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858097" y="302040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278564" y="400718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882400" y="431405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112570" y="3059477"/>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510575" y="376012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181555" y="354037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860156" y="359649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517149" y="3321592"/>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0264848" y="3697576"/>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890304" y="333417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864146" y="364791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9993992" y="304699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0995802" y="378075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638667" y="327250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1279203" y="419702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685123" y="347384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0783490" y="3992990"/>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1176602" y="3596481"/>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982009" y="393691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018840" y="382344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077917" y="417816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0388103" y="382539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527180" y="335046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0922332" y="3585793"/>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780435" y="3770252"/>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749760" y="394264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149296" y="3619599"/>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393850" y="4085231"/>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0416732" y="355690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0359591" y="305808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543569" y="398227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1262093" y="3831130"/>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0183855" y="3251170"/>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0382533" y="436453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0873172" y="3757659"/>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1037337" y="3335972"/>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403625" y="4323924"/>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0520711" y="364726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956498" y="3769151"/>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1214414" y="3025350"/>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0897188" y="414289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1084685" y="403319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0943795" y="3728939"/>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0490651" y="360194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566678" y="4210825"/>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0506454" y="3291619"/>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0387072" y="3682643"/>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10116537" y="3492200"/>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448810" y="387269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0584093" y="3645914"/>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515200" y="3332446"/>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788123" y="3819166"/>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1038653" y="4112658"/>
            <a:ext cx="68580" cy="68580"/>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921772" y="4137345"/>
            <a:ext cx="68580" cy="68580"/>
          </a:xfrm>
          <a:prstGeom prst="ellipse">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006840" y="4343400"/>
            <a:ext cx="2743200" cy="320040"/>
          </a:xfrm>
          <a:prstGeom prst="rect">
            <a:avLst/>
          </a:prstGeom>
          <a:noFill/>
        </p:spPr>
        <p:txBody>
          <a:bodyPr wrap="square" anchor="t" lIns="0" rIns="0" tIns="0" bIns="0">
            <a:spAutoFit/>
          </a:bodyPr>
          <a:lstStyle/>
          <a:p>
            <a:pPr algn="ctr">
              <a:lnSpc>
                <a:spcPct val="105000"/>
              </a:lnSpc>
              <a:spcBef>
                <a:spcPts val="0"/>
              </a:spcBef>
              <a:spcAft>
                <a:spcPts val="600"/>
              </a:spcAft>
            </a:pPr>
            <a:r>
              <a:rPr sz="1200" b="1">
                <a:solidFill>
                  <a:srgbClr val="188A63"/>
                </a:solidFill>
                <a:latin typeface="Arial"/>
              </a:rPr>
              <a:t>MIXED = good</a:t>
            </a:r>
          </a:p>
        </p:txBody>
      </p:sp>
      <p:sp>
        <p:nvSpPr>
          <p:cNvPr id="134" name="Rectangle 133"/>
          <p:cNvSpPr/>
          <p:nvPr/>
        </p:nvSpPr>
        <p:spPr>
          <a:xfrm>
            <a:off x="6035040" y="4892040"/>
            <a:ext cx="146304" cy="14630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36208" y="4828032"/>
            <a:ext cx="182880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0">
                <a:solidFill>
                  <a:srgbClr val="5B6470"/>
                </a:solidFill>
                <a:latin typeface="Arial"/>
              </a:rPr>
              <a:t>donor A</a:t>
            </a:r>
          </a:p>
        </p:txBody>
      </p:sp>
      <p:sp>
        <p:nvSpPr>
          <p:cNvPr id="136" name="Rectangle 135"/>
          <p:cNvSpPr/>
          <p:nvPr/>
        </p:nvSpPr>
        <p:spPr>
          <a:xfrm>
            <a:off x="7315200" y="4892040"/>
            <a:ext cx="146304" cy="146304"/>
          </a:xfrm>
          <a:prstGeom prst="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516368" y="4828032"/>
            <a:ext cx="182880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0">
                <a:solidFill>
                  <a:srgbClr val="5B6470"/>
                </a:solidFill>
                <a:latin typeface="Arial"/>
              </a:rPr>
              <a:t>donor B</a:t>
            </a:r>
          </a:p>
        </p:txBody>
      </p:sp>
      <p:sp>
        <p:nvSpPr>
          <p:cNvPr id="138" name="Rounded Rectangle 137"/>
          <p:cNvSpPr/>
          <p:nvPr/>
        </p:nvSpPr>
        <p:spPr>
          <a:xfrm>
            <a:off x="640080" y="5532120"/>
            <a:ext cx="10881360" cy="685800"/>
          </a:xfrm>
          <a:prstGeom prst="round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14400" y="5614416"/>
            <a:ext cx="10424160" cy="548640"/>
          </a:xfrm>
          <a:prstGeom prst="rect">
            <a:avLst/>
          </a:prstGeom>
          <a:noFill/>
        </p:spPr>
        <p:txBody>
          <a:bodyPr wrap="square" anchor="ctr" lIns="0" rIns="0" tIns="0" bIns="0">
            <a:spAutoFit/>
          </a:bodyPr>
          <a:lstStyle/>
          <a:p>
            <a:pPr algn="l">
              <a:lnSpc>
                <a:spcPct val="105000"/>
              </a:lnSpc>
              <a:spcBef>
                <a:spcPts val="0"/>
              </a:spcBef>
              <a:spcAft>
                <a:spcPts val="600"/>
              </a:spcAft>
            </a:pPr>
            <a:r>
              <a:rPr sz="1400" b="1">
                <a:solidFill>
                  <a:srgbClr val="1A202C"/>
                </a:solidFill>
                <a:latin typeface="Arial"/>
              </a:rPr>
              <a:t>Diagnostic: </a:t>
            </a:r>
            <a:r>
              <a:rPr sz="1400" b="0">
                <a:solidFill>
                  <a:srgbClr val="5B6470"/>
                </a:solidFill>
                <a:latin typeface="Arial"/>
              </a:rPr>
              <a:t>if the UMAP separates by donor, biology is confounded by batch. Well-integrated data mixes donors within each cell type.</a:t>
            </a:r>
          </a:p>
        </p:txBody>
      </p:sp>
      <p:sp>
        <p:nvSpPr>
          <p:cNvPr id="140" name="TextBox 139"/>
          <p:cNvSpPr txBox="1"/>
          <p:nvPr/>
        </p:nvSpPr>
        <p:spPr>
          <a:xfrm>
            <a:off x="640080" y="6419088"/>
            <a:ext cx="7315200" cy="365760"/>
          </a:xfrm>
          <a:prstGeom prst="rect">
            <a:avLst/>
          </a:prstGeom>
          <a:noFill/>
        </p:spPr>
        <p:txBody>
          <a:bodyPr wrap="square" anchor="t" lIns="0" rIns="0" tIns="0" bIns="0">
            <a:spAutoFit/>
          </a:bodyPr>
          <a:lstStyle/>
          <a:p>
            <a:pPr algn="l">
              <a:lnSpc>
                <a:spcPct val="105000"/>
              </a:lnSpc>
              <a:spcBef>
                <a:spcPts val="0"/>
              </a:spcBef>
              <a:spcAft>
                <a:spcPts val="600"/>
              </a:spcAft>
            </a:pPr>
            <a:r>
              <a:rPr sz="1000" b="0">
                <a:solidFill>
                  <a:srgbClr val="5B6470"/>
                </a:solidFill>
                <a:latin typeface="Arial"/>
              </a:rPr>
              <a:t>CAJAL Neuromics 2026  ·  Project C10  ·  scRNA-seq data integration</a:t>
            </a:r>
          </a:p>
        </p:txBody>
      </p:sp>
      <p:sp>
        <p:nvSpPr>
          <p:cNvPr id="141" name="TextBox 140"/>
          <p:cNvSpPr txBox="1"/>
          <p:nvPr/>
        </p:nvSpPr>
        <p:spPr>
          <a:xfrm>
            <a:off x="10972800" y="6419088"/>
            <a:ext cx="822960" cy="365760"/>
          </a:xfrm>
          <a:prstGeom prst="rect">
            <a:avLst/>
          </a:prstGeom>
          <a:noFill/>
        </p:spPr>
        <p:txBody>
          <a:bodyPr wrap="square" anchor="t" lIns="0" rIns="0" tIns="0" bIns="0">
            <a:spAutoFit/>
          </a:bodyPr>
          <a:lstStyle/>
          <a:p>
            <a:pPr algn="r">
              <a:lnSpc>
                <a:spcPct val="105000"/>
              </a:lnSpc>
              <a:spcBef>
                <a:spcPts val="0"/>
              </a:spcBef>
              <a:spcAft>
                <a:spcPts val="600"/>
              </a:spcAft>
            </a:pPr>
            <a:r>
              <a:rPr sz="1000" b="1">
                <a:solidFill>
                  <a:srgbClr val="5B647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201168" cy="38404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73152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500" b="1">
                <a:solidFill>
                  <a:srgbClr val="2E86DE"/>
                </a:solidFill>
                <a:latin typeface="Arial"/>
              </a:rPr>
              <a:t>METHOD 1</a:t>
            </a:r>
          </a:p>
        </p:txBody>
      </p:sp>
      <p:sp>
        <p:nvSpPr>
          <p:cNvPr id="5" name="TextBox 4"/>
          <p:cNvSpPr txBox="1"/>
          <p:nvPr/>
        </p:nvSpPr>
        <p:spPr>
          <a:xfrm>
            <a:off x="640080" y="932688"/>
            <a:ext cx="10972800" cy="1005840"/>
          </a:xfrm>
          <a:prstGeom prst="rect">
            <a:avLst/>
          </a:prstGeom>
          <a:noFill/>
        </p:spPr>
        <p:txBody>
          <a:bodyPr wrap="square" anchor="t" lIns="0" rIns="0" tIns="0" bIns="0">
            <a:spAutoFit/>
          </a:bodyPr>
          <a:lstStyle/>
          <a:p>
            <a:pPr algn="l">
              <a:lnSpc>
                <a:spcPct val="105000"/>
              </a:lnSpc>
              <a:spcBef>
                <a:spcPts val="0"/>
              </a:spcBef>
              <a:spcAft>
                <a:spcPts val="600"/>
              </a:spcAft>
            </a:pPr>
            <a:r>
              <a:rPr sz="3000" b="1">
                <a:solidFill>
                  <a:srgbClr val="1A202C"/>
                </a:solidFill>
                <a:latin typeface="Arial"/>
              </a:rPr>
              <a:t>Harmony</a:t>
            </a:r>
          </a:p>
        </p:txBody>
      </p:sp>
      <p:sp>
        <p:nvSpPr>
          <p:cNvPr id="6" name="TextBox 5"/>
          <p:cNvSpPr txBox="1"/>
          <p:nvPr/>
        </p:nvSpPr>
        <p:spPr>
          <a:xfrm>
            <a:off x="640080" y="1572768"/>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0">
                <a:solidFill>
                  <a:srgbClr val="5B6470"/>
                </a:solidFill>
                <a:latin typeface="Arial"/>
              </a:rPr>
              <a:t>Fast, CPU-friendly batch correction in PCA space</a:t>
            </a:r>
          </a:p>
        </p:txBody>
      </p:sp>
      <p:sp>
        <p:nvSpPr>
          <p:cNvPr id="7" name="TextBox 6"/>
          <p:cNvSpPr txBox="1"/>
          <p:nvPr/>
        </p:nvSpPr>
        <p:spPr>
          <a:xfrm>
            <a:off x="640080" y="2331720"/>
            <a:ext cx="6126480" cy="4114800"/>
          </a:xfrm>
          <a:prstGeom prst="rect">
            <a:avLst/>
          </a:prstGeom>
          <a:noFill/>
        </p:spPr>
        <p:txBody>
          <a:bodyPr wrap="square" anchor="t" lIns="0" rIns="0" tIns="0" bIns="0">
            <a:spAutoFit/>
          </a:bodyPr>
          <a:lstStyle/>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Operates on an existing PCA embedding (not raw counts)</a:t>
            </a:r>
          </a:p>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Iterative loop: soft k-means clustering → estimate batch shifts → correct</a:t>
            </a:r>
          </a:p>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Removes batch-associated offsets within each cluster, keeps cluster structure</a:t>
            </a:r>
          </a:p>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Linear-ish correction, no neural network to train</a:t>
            </a:r>
          </a:p>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Fast, runs comfortably on CPU — good default first pass</a:t>
            </a:r>
          </a:p>
          <a:p>
            <a:pPr algn="l">
              <a:lnSpc>
                <a:spcPct val="108000"/>
              </a:lnSpc>
              <a:spcBef>
                <a:spcPts val="0"/>
              </a:spcBef>
              <a:spcAft>
                <a:spcPts val="900"/>
              </a:spcAft>
            </a:pPr>
            <a:r>
              <a:rPr sz="1000" b="1">
                <a:solidFill>
                  <a:srgbClr val="2E86DE"/>
                </a:solidFill>
                <a:latin typeface="Arial"/>
              </a:rPr>
              <a:t>●  </a:t>
            </a:r>
            <a:r>
              <a:rPr sz="1500" b="0">
                <a:solidFill>
                  <a:srgbClr val="1A202C"/>
                </a:solidFill>
                <a:latin typeface="Arial"/>
              </a:rPr>
              <a:t>Returns a corrected embedding for neighbors / UMAP / clustering</a:t>
            </a:r>
          </a:p>
        </p:txBody>
      </p:sp>
      <p:sp>
        <p:nvSpPr>
          <p:cNvPr id="8" name="Rounded Rectangle 7"/>
          <p:cNvSpPr/>
          <p:nvPr/>
        </p:nvSpPr>
        <p:spPr>
          <a:xfrm>
            <a:off x="7086600" y="2286000"/>
            <a:ext cx="4434840" cy="3566160"/>
          </a:xfrm>
          <a:prstGeom prst="roundRect">
            <a:avLst/>
          </a:prstGeom>
          <a:solidFill>
            <a:srgbClr val="F3F5F8"/>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2423160"/>
            <a:ext cx="402336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2E86DE"/>
                </a:solidFill>
                <a:latin typeface="Arial"/>
              </a:rPr>
              <a:t>The Harmony loop</a:t>
            </a:r>
          </a:p>
        </p:txBody>
      </p:sp>
      <p:sp>
        <p:nvSpPr>
          <p:cNvPr id="10" name="Rounded Rectangle 9"/>
          <p:cNvSpPr/>
          <p:nvPr/>
        </p:nvSpPr>
        <p:spPr>
          <a:xfrm>
            <a:off x="7315200" y="2926080"/>
            <a:ext cx="3977639" cy="457200"/>
          </a:xfrm>
          <a:prstGeom prst="roundRect">
            <a:avLst/>
          </a:prstGeom>
          <a:solidFill>
            <a:srgbClr val="FFFFFF"/>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926080"/>
            <a:ext cx="36576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250" b="0">
                <a:solidFill>
                  <a:srgbClr val="1A202C"/>
                </a:solidFill>
                <a:latin typeface="Arial"/>
              </a:rPr>
              <a:t>PCA embedding (input)</a:t>
            </a:r>
          </a:p>
        </p:txBody>
      </p:sp>
      <p:sp>
        <p:nvSpPr>
          <p:cNvPr id="12" name="TextBox 11"/>
          <p:cNvSpPr txBox="1"/>
          <p:nvPr/>
        </p:nvSpPr>
        <p:spPr>
          <a:xfrm>
            <a:off x="7315200" y="3328416"/>
            <a:ext cx="3977639" cy="228600"/>
          </a:xfrm>
          <a:prstGeom prst="rect">
            <a:avLst/>
          </a:prstGeom>
          <a:noFill/>
        </p:spPr>
        <p:txBody>
          <a:bodyPr wrap="square" anchor="t" lIns="0" rIns="0" tIns="0" bIns="0">
            <a:spAutoFit/>
          </a:bodyPr>
          <a:lstStyle/>
          <a:p>
            <a:pPr algn="ctr">
              <a:lnSpc>
                <a:spcPct val="105000"/>
              </a:lnSpc>
              <a:spcBef>
                <a:spcPts val="0"/>
              </a:spcBef>
              <a:spcAft>
                <a:spcPts val="600"/>
              </a:spcAft>
            </a:pPr>
            <a:r>
              <a:rPr sz="1100" b="1">
                <a:solidFill>
                  <a:srgbClr val="2E86DE"/>
                </a:solidFill>
                <a:latin typeface="Arial"/>
              </a:rPr>
              <a:t>↓</a:t>
            </a:r>
          </a:p>
        </p:txBody>
      </p:sp>
      <p:sp>
        <p:nvSpPr>
          <p:cNvPr id="13" name="Rounded Rectangle 12"/>
          <p:cNvSpPr/>
          <p:nvPr/>
        </p:nvSpPr>
        <p:spPr>
          <a:xfrm>
            <a:off x="7315200" y="3493008"/>
            <a:ext cx="3977639" cy="457200"/>
          </a:xfrm>
          <a:prstGeom prst="roundRect">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3493008"/>
            <a:ext cx="36576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Soft-cluster cells</a:t>
            </a:r>
          </a:p>
        </p:txBody>
      </p:sp>
      <p:sp>
        <p:nvSpPr>
          <p:cNvPr id="15" name="TextBox 14"/>
          <p:cNvSpPr txBox="1"/>
          <p:nvPr/>
        </p:nvSpPr>
        <p:spPr>
          <a:xfrm>
            <a:off x="7315200" y="3895344"/>
            <a:ext cx="3977639" cy="228600"/>
          </a:xfrm>
          <a:prstGeom prst="rect">
            <a:avLst/>
          </a:prstGeom>
          <a:noFill/>
        </p:spPr>
        <p:txBody>
          <a:bodyPr wrap="square" anchor="t" lIns="0" rIns="0" tIns="0" bIns="0">
            <a:spAutoFit/>
          </a:bodyPr>
          <a:lstStyle/>
          <a:p>
            <a:pPr algn="ctr">
              <a:lnSpc>
                <a:spcPct val="105000"/>
              </a:lnSpc>
              <a:spcBef>
                <a:spcPts val="0"/>
              </a:spcBef>
              <a:spcAft>
                <a:spcPts val="600"/>
              </a:spcAft>
            </a:pPr>
            <a:r>
              <a:rPr sz="1100" b="1">
                <a:solidFill>
                  <a:srgbClr val="2E86DE"/>
                </a:solidFill>
                <a:latin typeface="Arial"/>
              </a:rPr>
              <a:t>↓</a:t>
            </a:r>
          </a:p>
        </p:txBody>
      </p:sp>
      <p:sp>
        <p:nvSpPr>
          <p:cNvPr id="16" name="Rounded Rectangle 15"/>
          <p:cNvSpPr/>
          <p:nvPr/>
        </p:nvSpPr>
        <p:spPr>
          <a:xfrm>
            <a:off x="7315200" y="4059936"/>
            <a:ext cx="3977639" cy="457200"/>
          </a:xfrm>
          <a:prstGeom prst="roundRect">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4059936"/>
            <a:ext cx="36576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Estimate batch shift / cluster</a:t>
            </a:r>
          </a:p>
        </p:txBody>
      </p:sp>
      <p:sp>
        <p:nvSpPr>
          <p:cNvPr id="18" name="TextBox 17"/>
          <p:cNvSpPr txBox="1"/>
          <p:nvPr/>
        </p:nvSpPr>
        <p:spPr>
          <a:xfrm>
            <a:off x="7315200" y="4462272"/>
            <a:ext cx="3977639" cy="228600"/>
          </a:xfrm>
          <a:prstGeom prst="rect">
            <a:avLst/>
          </a:prstGeom>
          <a:noFill/>
        </p:spPr>
        <p:txBody>
          <a:bodyPr wrap="square" anchor="t" lIns="0" rIns="0" tIns="0" bIns="0">
            <a:spAutoFit/>
          </a:bodyPr>
          <a:lstStyle/>
          <a:p>
            <a:pPr algn="ctr">
              <a:lnSpc>
                <a:spcPct val="105000"/>
              </a:lnSpc>
              <a:spcBef>
                <a:spcPts val="0"/>
              </a:spcBef>
              <a:spcAft>
                <a:spcPts val="600"/>
              </a:spcAft>
            </a:pPr>
            <a:r>
              <a:rPr sz="1100" b="1">
                <a:solidFill>
                  <a:srgbClr val="2E86DE"/>
                </a:solidFill>
                <a:latin typeface="Arial"/>
              </a:rPr>
              <a:t>↓</a:t>
            </a:r>
          </a:p>
        </p:txBody>
      </p:sp>
      <p:sp>
        <p:nvSpPr>
          <p:cNvPr id="19" name="Rounded Rectangle 18"/>
          <p:cNvSpPr/>
          <p:nvPr/>
        </p:nvSpPr>
        <p:spPr>
          <a:xfrm>
            <a:off x="7315200" y="4626864"/>
            <a:ext cx="3977639" cy="457200"/>
          </a:xfrm>
          <a:prstGeom prst="roundRect">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4626864"/>
            <a:ext cx="36576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Subtract shift → correct</a:t>
            </a:r>
          </a:p>
        </p:txBody>
      </p:sp>
      <p:sp>
        <p:nvSpPr>
          <p:cNvPr id="21" name="TextBox 20"/>
          <p:cNvSpPr txBox="1"/>
          <p:nvPr/>
        </p:nvSpPr>
        <p:spPr>
          <a:xfrm>
            <a:off x="7315200" y="5029200"/>
            <a:ext cx="3977639" cy="228600"/>
          </a:xfrm>
          <a:prstGeom prst="rect">
            <a:avLst/>
          </a:prstGeom>
          <a:noFill/>
        </p:spPr>
        <p:txBody>
          <a:bodyPr wrap="square" anchor="t" lIns="0" rIns="0" tIns="0" bIns="0">
            <a:spAutoFit/>
          </a:bodyPr>
          <a:lstStyle/>
          <a:p>
            <a:pPr algn="ctr">
              <a:lnSpc>
                <a:spcPct val="105000"/>
              </a:lnSpc>
              <a:spcBef>
                <a:spcPts val="0"/>
              </a:spcBef>
              <a:spcAft>
                <a:spcPts val="600"/>
              </a:spcAft>
            </a:pPr>
            <a:r>
              <a:rPr sz="1100" b="1">
                <a:solidFill>
                  <a:srgbClr val="2E86DE"/>
                </a:solidFill>
                <a:latin typeface="Arial"/>
              </a:rPr>
              <a:t>↓</a:t>
            </a:r>
          </a:p>
        </p:txBody>
      </p:sp>
      <p:sp>
        <p:nvSpPr>
          <p:cNvPr id="22" name="Rounded Rectangle 21"/>
          <p:cNvSpPr/>
          <p:nvPr/>
        </p:nvSpPr>
        <p:spPr>
          <a:xfrm>
            <a:off x="7315200" y="5193792"/>
            <a:ext cx="3977639" cy="457200"/>
          </a:xfrm>
          <a:prstGeom prst="roundRect">
            <a:avLst/>
          </a:prstGeom>
          <a:solidFill>
            <a:srgbClr val="FFFFFF"/>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9" y="5193792"/>
            <a:ext cx="36576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250" b="0">
                <a:solidFill>
                  <a:srgbClr val="1A202C"/>
                </a:solidFill>
                <a:latin typeface="Arial"/>
              </a:rPr>
              <a:t>Repeat until stable</a:t>
            </a:r>
          </a:p>
        </p:txBody>
      </p:sp>
      <p:sp>
        <p:nvSpPr>
          <p:cNvPr id="24" name="TextBox 23"/>
          <p:cNvSpPr txBox="1"/>
          <p:nvPr/>
        </p:nvSpPr>
        <p:spPr>
          <a:xfrm>
            <a:off x="640080" y="6419088"/>
            <a:ext cx="7315200" cy="365760"/>
          </a:xfrm>
          <a:prstGeom prst="rect">
            <a:avLst/>
          </a:prstGeom>
          <a:noFill/>
        </p:spPr>
        <p:txBody>
          <a:bodyPr wrap="square" anchor="t" lIns="0" rIns="0" tIns="0" bIns="0">
            <a:spAutoFit/>
          </a:bodyPr>
          <a:lstStyle/>
          <a:p>
            <a:pPr algn="l">
              <a:lnSpc>
                <a:spcPct val="105000"/>
              </a:lnSpc>
              <a:spcBef>
                <a:spcPts val="0"/>
              </a:spcBef>
              <a:spcAft>
                <a:spcPts val="600"/>
              </a:spcAft>
            </a:pPr>
            <a:r>
              <a:rPr sz="1000" b="0">
                <a:solidFill>
                  <a:srgbClr val="5B6470"/>
                </a:solidFill>
                <a:latin typeface="Arial"/>
              </a:rPr>
              <a:t>CAJAL Neuromics 2026  ·  Project C10  ·  scRNA-seq data integration</a:t>
            </a:r>
          </a:p>
        </p:txBody>
      </p:sp>
      <p:sp>
        <p:nvSpPr>
          <p:cNvPr id="25" name="TextBox 24"/>
          <p:cNvSpPr txBox="1"/>
          <p:nvPr/>
        </p:nvSpPr>
        <p:spPr>
          <a:xfrm>
            <a:off x="10972800" y="6419088"/>
            <a:ext cx="822960" cy="365760"/>
          </a:xfrm>
          <a:prstGeom prst="rect">
            <a:avLst/>
          </a:prstGeom>
          <a:noFill/>
        </p:spPr>
        <p:txBody>
          <a:bodyPr wrap="square" anchor="t" lIns="0" rIns="0" tIns="0" bIns="0">
            <a:spAutoFit/>
          </a:bodyPr>
          <a:lstStyle/>
          <a:p>
            <a:pPr algn="r">
              <a:lnSpc>
                <a:spcPct val="105000"/>
              </a:lnSpc>
              <a:spcBef>
                <a:spcPts val="0"/>
              </a:spcBef>
              <a:spcAft>
                <a:spcPts val="600"/>
              </a:spcAft>
            </a:pPr>
            <a:r>
              <a:rPr sz="1000" b="1">
                <a:solidFill>
                  <a:srgbClr val="5B647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201168" cy="384048"/>
          </a:xfrm>
          <a:prstGeom prst="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73152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500" b="1">
                <a:solidFill>
                  <a:srgbClr val="B03AA6"/>
                </a:solidFill>
                <a:latin typeface="Arial"/>
              </a:rPr>
              <a:t>METHOD 2</a:t>
            </a:r>
          </a:p>
        </p:txBody>
      </p:sp>
      <p:sp>
        <p:nvSpPr>
          <p:cNvPr id="5" name="TextBox 4"/>
          <p:cNvSpPr txBox="1"/>
          <p:nvPr/>
        </p:nvSpPr>
        <p:spPr>
          <a:xfrm>
            <a:off x="640080" y="932688"/>
            <a:ext cx="10972800" cy="1005840"/>
          </a:xfrm>
          <a:prstGeom prst="rect">
            <a:avLst/>
          </a:prstGeom>
          <a:noFill/>
        </p:spPr>
        <p:txBody>
          <a:bodyPr wrap="square" anchor="t" lIns="0" rIns="0" tIns="0" bIns="0">
            <a:spAutoFit/>
          </a:bodyPr>
          <a:lstStyle/>
          <a:p>
            <a:pPr algn="l">
              <a:lnSpc>
                <a:spcPct val="105000"/>
              </a:lnSpc>
              <a:spcBef>
                <a:spcPts val="0"/>
              </a:spcBef>
              <a:spcAft>
                <a:spcPts val="600"/>
              </a:spcAft>
            </a:pPr>
            <a:r>
              <a:rPr sz="3000" b="1">
                <a:solidFill>
                  <a:srgbClr val="1A202C"/>
                </a:solidFill>
                <a:latin typeface="Arial"/>
              </a:rPr>
              <a:t>scVI</a:t>
            </a:r>
          </a:p>
        </p:txBody>
      </p:sp>
      <p:sp>
        <p:nvSpPr>
          <p:cNvPr id="6" name="TextBox 5"/>
          <p:cNvSpPr txBox="1"/>
          <p:nvPr/>
        </p:nvSpPr>
        <p:spPr>
          <a:xfrm>
            <a:off x="640080" y="1572768"/>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0">
                <a:solidFill>
                  <a:srgbClr val="5B6470"/>
                </a:solidFill>
                <a:latin typeface="Arial"/>
              </a:rPr>
              <a:t>Deep generative model that learns a batch-free latent space</a:t>
            </a:r>
          </a:p>
        </p:txBody>
      </p:sp>
      <p:sp>
        <p:nvSpPr>
          <p:cNvPr id="7" name="TextBox 6"/>
          <p:cNvSpPr txBox="1"/>
          <p:nvPr/>
        </p:nvSpPr>
        <p:spPr>
          <a:xfrm>
            <a:off x="640080" y="2331720"/>
            <a:ext cx="6126480" cy="4114800"/>
          </a:xfrm>
          <a:prstGeom prst="rect">
            <a:avLst/>
          </a:prstGeom>
          <a:noFill/>
        </p:spPr>
        <p:txBody>
          <a:bodyPr wrap="square" anchor="t" lIns="0" rIns="0" tIns="0" bIns="0">
            <a:spAutoFit/>
          </a:bodyPr>
          <a:lstStyle/>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Variational autoencoder (VAE) — a neural network model</a:t>
            </a:r>
          </a:p>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Models raw counts directly (negative-binomial), no pre-PCA needed</a:t>
            </a:r>
          </a:p>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Conditions on batch → factors technical variation out of the latent space</a:t>
            </a:r>
          </a:p>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Learns a low-dimensional latent embedding for downstream steps</a:t>
            </a:r>
          </a:p>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GPU-accelerated; scales to very large datasets</a:t>
            </a:r>
          </a:p>
          <a:p>
            <a:pPr algn="l">
              <a:lnSpc>
                <a:spcPct val="108000"/>
              </a:lnSpc>
              <a:spcBef>
                <a:spcPts val="0"/>
              </a:spcBef>
              <a:spcAft>
                <a:spcPts val="900"/>
              </a:spcAft>
            </a:pPr>
            <a:r>
              <a:rPr sz="1000" b="1">
                <a:solidFill>
                  <a:srgbClr val="B03AA6"/>
                </a:solidFill>
                <a:latin typeface="Arial"/>
              </a:rPr>
              <a:t>●  </a:t>
            </a:r>
            <a:r>
              <a:rPr sz="1500" b="0">
                <a:solidFill>
                  <a:srgbClr val="1A202C"/>
                </a:solidFill>
                <a:latin typeface="Arial"/>
              </a:rPr>
              <a:t>Probabilistic model → extras: denoising, normalized expression, DE</a:t>
            </a:r>
          </a:p>
        </p:txBody>
      </p:sp>
      <p:sp>
        <p:nvSpPr>
          <p:cNvPr id="8" name="Rounded Rectangle 7"/>
          <p:cNvSpPr/>
          <p:nvPr/>
        </p:nvSpPr>
        <p:spPr>
          <a:xfrm>
            <a:off x="7086600" y="2286000"/>
            <a:ext cx="4434840" cy="3566160"/>
          </a:xfrm>
          <a:prstGeom prst="roundRect">
            <a:avLst/>
          </a:prstGeom>
          <a:solidFill>
            <a:srgbClr val="F3F5F8"/>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2423160"/>
            <a:ext cx="402336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B03AA6"/>
                </a:solidFill>
                <a:latin typeface="Arial"/>
              </a:rPr>
              <a:t>The VAE, conditioned on batch</a:t>
            </a:r>
          </a:p>
        </p:txBody>
      </p:sp>
      <p:sp>
        <p:nvSpPr>
          <p:cNvPr id="10" name="Rounded Rectangle 9"/>
          <p:cNvSpPr/>
          <p:nvPr/>
        </p:nvSpPr>
        <p:spPr>
          <a:xfrm>
            <a:off x="7315200" y="3063240"/>
            <a:ext cx="1234440" cy="8229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3063240"/>
            <a:ext cx="1234440" cy="822960"/>
          </a:xfrm>
          <a:prstGeom prst="rect">
            <a:avLst/>
          </a:prstGeom>
          <a:noFill/>
        </p:spPr>
        <p:txBody>
          <a:bodyPr wrap="square" anchor="ctr" lIns="0" rIns="0" tIns="0" bIns="0">
            <a:spAutoFit/>
          </a:bodyPr>
          <a:lstStyle/>
          <a:p>
            <a:pPr algn="ctr">
              <a:lnSpc>
                <a:spcPct val="105000"/>
              </a:lnSpc>
              <a:spcBef>
                <a:spcPts val="0"/>
              </a:spcBef>
              <a:spcAft>
                <a:spcPts val="600"/>
              </a:spcAft>
            </a:pPr>
            <a:r>
              <a:rPr sz="1200" b="1">
                <a:solidFill>
                  <a:srgbClr val="1A202C"/>
                </a:solidFill>
                <a:latin typeface="Arial"/>
              </a:rPr>
              <a:t>raw
counts</a:t>
            </a:r>
          </a:p>
        </p:txBody>
      </p:sp>
      <p:sp>
        <p:nvSpPr>
          <p:cNvPr id="12" name="Rounded Rectangle 11"/>
          <p:cNvSpPr/>
          <p:nvPr/>
        </p:nvSpPr>
        <p:spPr>
          <a:xfrm>
            <a:off x="7315200" y="3063240"/>
            <a:ext cx="1234440" cy="822960"/>
          </a:xfrm>
          <a:prstGeom prst="roundRect">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3063240"/>
            <a:ext cx="1234440" cy="822960"/>
          </a:xfrm>
          <a:prstGeom prst="rect">
            <a:avLst/>
          </a:prstGeom>
          <a:noFill/>
        </p:spPr>
        <p:txBody>
          <a:bodyPr wrap="square" anchor="ctr" lIns="0" rIns="0" tIns="0" bIns="0">
            <a:spAutoFit/>
          </a:bodyPr>
          <a:lstStyle/>
          <a:p>
            <a:pPr algn="ctr">
              <a:lnSpc>
                <a:spcPct val="105000"/>
              </a:lnSpc>
              <a:spcBef>
                <a:spcPts val="0"/>
              </a:spcBef>
              <a:spcAft>
                <a:spcPts val="600"/>
              </a:spcAft>
            </a:pPr>
            <a:r>
              <a:rPr sz="1200" b="1">
                <a:solidFill>
                  <a:srgbClr val="1A202C"/>
                </a:solidFill>
                <a:latin typeface="Arial"/>
              </a:rPr>
              <a:t>raw counts</a:t>
            </a:r>
          </a:p>
        </p:txBody>
      </p:sp>
      <p:sp>
        <p:nvSpPr>
          <p:cNvPr id="14" name="Rounded Rectangle 13"/>
          <p:cNvSpPr/>
          <p:nvPr/>
        </p:nvSpPr>
        <p:spPr>
          <a:xfrm>
            <a:off x="8732520" y="3063240"/>
            <a:ext cx="1097280" cy="822960"/>
          </a:xfrm>
          <a:prstGeom prst="round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3063240"/>
            <a:ext cx="1097280" cy="822960"/>
          </a:xfrm>
          <a:prstGeom prst="rect">
            <a:avLst/>
          </a:prstGeom>
          <a:noFill/>
        </p:spPr>
        <p:txBody>
          <a:bodyPr wrap="square" anchor="ctr" lIns="0" rIns="0" tIns="0" bIns="0">
            <a:spAutoFit/>
          </a:bodyPr>
          <a:lstStyle/>
          <a:p>
            <a:pPr algn="ctr">
              <a:lnSpc>
                <a:spcPct val="105000"/>
              </a:lnSpc>
              <a:spcBef>
                <a:spcPts val="0"/>
              </a:spcBef>
              <a:spcAft>
                <a:spcPts val="600"/>
              </a:spcAft>
            </a:pPr>
            <a:r>
              <a:rPr sz="1200" b="1">
                <a:solidFill>
                  <a:srgbClr val="FFFFFF"/>
                </a:solidFill>
                <a:latin typeface="Arial"/>
              </a:rPr>
              <a:t>encoder</a:t>
            </a:r>
          </a:p>
        </p:txBody>
      </p:sp>
      <p:sp>
        <p:nvSpPr>
          <p:cNvPr id="16" name="Rounded Rectangle 15"/>
          <p:cNvSpPr/>
          <p:nvPr/>
        </p:nvSpPr>
        <p:spPr>
          <a:xfrm>
            <a:off x="10058400" y="3063240"/>
            <a:ext cx="1234440" cy="822960"/>
          </a:xfrm>
          <a:prstGeom prst="roundRect">
            <a:avLst/>
          </a:prstGeom>
          <a:solidFill>
            <a:srgbClr val="EA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3063240"/>
            <a:ext cx="1234440" cy="822960"/>
          </a:xfrm>
          <a:prstGeom prst="rect">
            <a:avLst/>
          </a:prstGeom>
          <a:noFill/>
        </p:spPr>
        <p:txBody>
          <a:bodyPr wrap="square" anchor="ctr" lIns="0" rIns="0" tIns="0" bIns="0">
            <a:spAutoFit/>
          </a:bodyPr>
          <a:lstStyle/>
          <a:p>
            <a:pPr algn="ctr">
              <a:lnSpc>
                <a:spcPct val="105000"/>
              </a:lnSpc>
              <a:spcBef>
                <a:spcPts val="0"/>
              </a:spcBef>
              <a:spcAft>
                <a:spcPts val="600"/>
              </a:spcAft>
            </a:pPr>
            <a:r>
              <a:rPr sz="1200" b="1">
                <a:solidFill>
                  <a:srgbClr val="1A202C"/>
                </a:solidFill>
                <a:latin typeface="Arial"/>
              </a:rPr>
              <a:t>latent z
(batch-free)</a:t>
            </a:r>
          </a:p>
        </p:txBody>
      </p:sp>
      <p:sp>
        <p:nvSpPr>
          <p:cNvPr id="18" name="TextBox 17"/>
          <p:cNvSpPr txBox="1"/>
          <p:nvPr/>
        </p:nvSpPr>
        <p:spPr>
          <a:xfrm>
            <a:off x="10058400" y="3063240"/>
            <a:ext cx="1234440" cy="822960"/>
          </a:xfrm>
          <a:prstGeom prst="rect">
            <a:avLst/>
          </a:prstGeom>
          <a:noFill/>
        </p:spPr>
        <p:txBody>
          <a:bodyPr wrap="square" anchor="ctr" lIns="0" rIns="0" tIns="0" bIns="0">
            <a:spAutoFit/>
          </a:bodyPr>
          <a:lstStyle/>
          <a:p>
            <a:pPr algn="ctr">
              <a:lnSpc>
                <a:spcPct val="105000"/>
              </a:lnSpc>
              <a:spcBef>
                <a:spcPts val="0"/>
              </a:spcBef>
              <a:spcAft>
                <a:spcPts val="600"/>
              </a:spcAft>
            </a:pPr>
            <a:r>
              <a:rPr sz="1200" b="1">
                <a:solidFill>
                  <a:srgbClr val="1A202C"/>
                </a:solidFill>
                <a:latin typeface="Arial"/>
              </a:rPr>
              <a:t>latent z</a:t>
            </a:r>
          </a:p>
          <a:p>
            <a:pPr algn="ctr">
              <a:lnSpc>
                <a:spcPct val="105000"/>
              </a:lnSpc>
              <a:spcBef>
                <a:spcPts val="0"/>
              </a:spcBef>
              <a:spcAft>
                <a:spcPts val="600"/>
              </a:spcAft>
            </a:pPr>
            <a:r>
              <a:rPr sz="1000" b="0">
                <a:solidFill>
                  <a:srgbClr val="5B6470"/>
                </a:solidFill>
                <a:latin typeface="Arial"/>
              </a:rPr>
              <a:t>batch-free</a:t>
            </a:r>
          </a:p>
        </p:txBody>
      </p:sp>
      <p:sp>
        <p:nvSpPr>
          <p:cNvPr id="19" name="TextBox 18"/>
          <p:cNvSpPr txBox="1"/>
          <p:nvPr/>
        </p:nvSpPr>
        <p:spPr>
          <a:xfrm>
            <a:off x="8577072" y="3246120"/>
            <a:ext cx="228600" cy="45720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5B6470"/>
                </a:solidFill>
                <a:latin typeface="Arial"/>
              </a:rPr>
              <a:t>→</a:t>
            </a:r>
          </a:p>
        </p:txBody>
      </p:sp>
      <p:sp>
        <p:nvSpPr>
          <p:cNvPr id="20" name="TextBox 19"/>
          <p:cNvSpPr txBox="1"/>
          <p:nvPr/>
        </p:nvSpPr>
        <p:spPr>
          <a:xfrm>
            <a:off x="9902952" y="3246120"/>
            <a:ext cx="228600" cy="45720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5B6470"/>
                </a:solidFill>
                <a:latin typeface="Arial"/>
              </a:rPr>
              <a:t>→</a:t>
            </a:r>
          </a:p>
        </p:txBody>
      </p:sp>
      <p:sp>
        <p:nvSpPr>
          <p:cNvPr id="21" name="Rounded Rectangle 20"/>
          <p:cNvSpPr/>
          <p:nvPr/>
        </p:nvSpPr>
        <p:spPr>
          <a:xfrm>
            <a:off x="8732520" y="4160520"/>
            <a:ext cx="1097280" cy="502920"/>
          </a:xfrm>
          <a:prstGeom prst="roundRect">
            <a:avLst/>
          </a:prstGeom>
          <a:solidFill>
            <a:srgbClr val="FFFFFF"/>
          </a:solidFill>
          <a:ln w="15875">
            <a:solidFill>
              <a:srgbClr val="B03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32520" y="4160520"/>
            <a:ext cx="1097280" cy="502920"/>
          </a:xfrm>
          <a:prstGeom prst="rect">
            <a:avLst/>
          </a:prstGeom>
          <a:noFill/>
        </p:spPr>
        <p:txBody>
          <a:bodyPr wrap="square" anchor="ctr" lIns="0" rIns="0" tIns="0" bIns="0">
            <a:spAutoFit/>
          </a:bodyPr>
          <a:lstStyle/>
          <a:p>
            <a:pPr algn="ctr">
              <a:lnSpc>
                <a:spcPct val="105000"/>
              </a:lnSpc>
              <a:spcBef>
                <a:spcPts val="0"/>
              </a:spcBef>
              <a:spcAft>
                <a:spcPts val="600"/>
              </a:spcAft>
            </a:pPr>
            <a:r>
              <a:rPr sz="1100" b="1">
                <a:solidFill>
                  <a:srgbClr val="B03AA6"/>
                </a:solidFill>
                <a:latin typeface="Arial"/>
              </a:rPr>
              <a:t>batch label</a:t>
            </a:r>
          </a:p>
        </p:txBody>
      </p:sp>
      <p:sp>
        <p:nvSpPr>
          <p:cNvPr id="23" name="TextBox 22"/>
          <p:cNvSpPr txBox="1"/>
          <p:nvPr/>
        </p:nvSpPr>
        <p:spPr>
          <a:xfrm>
            <a:off x="9189720" y="3913632"/>
            <a:ext cx="54864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a:solidFill>
                  <a:srgbClr val="B03AA6"/>
                </a:solidFill>
                <a:latin typeface="Arial"/>
              </a:rPr>
              <a:t>↑</a:t>
            </a:r>
          </a:p>
        </p:txBody>
      </p:sp>
      <p:sp>
        <p:nvSpPr>
          <p:cNvPr id="24" name="TextBox 23"/>
          <p:cNvSpPr txBox="1"/>
          <p:nvPr/>
        </p:nvSpPr>
        <p:spPr>
          <a:xfrm>
            <a:off x="7315200" y="4892040"/>
            <a:ext cx="3977639" cy="822960"/>
          </a:xfrm>
          <a:prstGeom prst="rect">
            <a:avLst/>
          </a:prstGeom>
          <a:noFill/>
        </p:spPr>
        <p:txBody>
          <a:bodyPr wrap="square" anchor="t" lIns="0" rIns="0" tIns="0" bIns="0">
            <a:spAutoFit/>
          </a:bodyPr>
          <a:lstStyle/>
          <a:p>
            <a:pPr algn="l">
              <a:lnSpc>
                <a:spcPct val="105000"/>
              </a:lnSpc>
              <a:spcBef>
                <a:spcPts val="0"/>
              </a:spcBef>
              <a:spcAft>
                <a:spcPts val="600"/>
              </a:spcAft>
            </a:pPr>
            <a:r>
              <a:rPr sz="1150" b="0">
                <a:solidFill>
                  <a:srgbClr val="5B6470"/>
                </a:solidFill>
                <a:latin typeface="Arial"/>
              </a:rPr>
              <a:t>Batch is fed in as a covariate, so the latent space z captures biology with donor effects removed.</a:t>
            </a:r>
          </a:p>
        </p:txBody>
      </p:sp>
      <p:sp>
        <p:nvSpPr>
          <p:cNvPr id="25" name="TextBox 24"/>
          <p:cNvSpPr txBox="1"/>
          <p:nvPr/>
        </p:nvSpPr>
        <p:spPr>
          <a:xfrm>
            <a:off x="640080" y="6419088"/>
            <a:ext cx="7315200" cy="365760"/>
          </a:xfrm>
          <a:prstGeom prst="rect">
            <a:avLst/>
          </a:prstGeom>
          <a:noFill/>
        </p:spPr>
        <p:txBody>
          <a:bodyPr wrap="square" anchor="t" lIns="0" rIns="0" tIns="0" bIns="0">
            <a:spAutoFit/>
          </a:bodyPr>
          <a:lstStyle/>
          <a:p>
            <a:pPr algn="l">
              <a:lnSpc>
                <a:spcPct val="105000"/>
              </a:lnSpc>
              <a:spcBef>
                <a:spcPts val="0"/>
              </a:spcBef>
              <a:spcAft>
                <a:spcPts val="600"/>
              </a:spcAft>
            </a:pPr>
            <a:r>
              <a:rPr sz="1000" b="0">
                <a:solidFill>
                  <a:srgbClr val="5B6470"/>
                </a:solidFill>
                <a:latin typeface="Arial"/>
              </a:rPr>
              <a:t>CAJAL Neuromics 2026  ·  Project C10  ·  scRNA-seq data integration</a:t>
            </a:r>
          </a:p>
        </p:txBody>
      </p:sp>
      <p:sp>
        <p:nvSpPr>
          <p:cNvPr id="26" name="TextBox 25"/>
          <p:cNvSpPr txBox="1"/>
          <p:nvPr/>
        </p:nvSpPr>
        <p:spPr>
          <a:xfrm>
            <a:off x="10972800" y="6419088"/>
            <a:ext cx="822960" cy="365760"/>
          </a:xfrm>
          <a:prstGeom prst="rect">
            <a:avLst/>
          </a:prstGeom>
          <a:noFill/>
        </p:spPr>
        <p:txBody>
          <a:bodyPr wrap="square" anchor="t" lIns="0" rIns="0" tIns="0" bIns="0">
            <a:spAutoFit/>
          </a:bodyPr>
          <a:lstStyle/>
          <a:p>
            <a:pPr algn="r">
              <a:lnSpc>
                <a:spcPct val="105000"/>
              </a:lnSpc>
              <a:spcBef>
                <a:spcPts val="0"/>
              </a:spcBef>
              <a:spcAft>
                <a:spcPts val="600"/>
              </a:spcAft>
            </a:pPr>
            <a:r>
              <a:rPr sz="1000" b="1">
                <a:solidFill>
                  <a:srgbClr val="5B647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201168" cy="384048"/>
          </a:xfrm>
          <a:prstGeom prst="rect">
            <a:avLst/>
          </a:prstGeom>
          <a:solidFill>
            <a:srgbClr val="1A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457200"/>
            <a:ext cx="7315200" cy="457200"/>
          </a:xfrm>
          <a:prstGeom prst="rect">
            <a:avLst/>
          </a:prstGeom>
          <a:noFill/>
        </p:spPr>
        <p:txBody>
          <a:bodyPr wrap="square" anchor="ctr" lIns="0" rIns="0" tIns="0" bIns="0">
            <a:spAutoFit/>
          </a:bodyPr>
          <a:lstStyle/>
          <a:p>
            <a:pPr algn="l">
              <a:lnSpc>
                <a:spcPct val="105000"/>
              </a:lnSpc>
              <a:spcBef>
                <a:spcPts val="0"/>
              </a:spcBef>
              <a:spcAft>
                <a:spcPts val="600"/>
              </a:spcAft>
            </a:pPr>
            <a:r>
              <a:rPr sz="1500" b="1">
                <a:solidFill>
                  <a:srgbClr val="1A202C"/>
                </a:solidFill>
                <a:latin typeface="Arial"/>
              </a:rPr>
              <a:t>SIDE BY SIDE</a:t>
            </a:r>
          </a:p>
        </p:txBody>
      </p:sp>
      <p:sp>
        <p:nvSpPr>
          <p:cNvPr id="5" name="TextBox 4"/>
          <p:cNvSpPr txBox="1"/>
          <p:nvPr/>
        </p:nvSpPr>
        <p:spPr>
          <a:xfrm>
            <a:off x="640080" y="932688"/>
            <a:ext cx="10972800" cy="1005840"/>
          </a:xfrm>
          <a:prstGeom prst="rect">
            <a:avLst/>
          </a:prstGeom>
          <a:noFill/>
        </p:spPr>
        <p:txBody>
          <a:bodyPr wrap="square" anchor="t" lIns="0" rIns="0" tIns="0" bIns="0">
            <a:spAutoFit/>
          </a:bodyPr>
          <a:lstStyle/>
          <a:p>
            <a:pPr algn="l">
              <a:lnSpc>
                <a:spcPct val="105000"/>
              </a:lnSpc>
              <a:spcBef>
                <a:spcPts val="0"/>
              </a:spcBef>
              <a:spcAft>
                <a:spcPts val="600"/>
              </a:spcAft>
            </a:pPr>
            <a:r>
              <a:rPr sz="3000" b="1">
                <a:solidFill>
                  <a:srgbClr val="1A202C"/>
                </a:solidFill>
                <a:latin typeface="Arial"/>
              </a:rPr>
              <a:t>Harmony vs scVI</a:t>
            </a:r>
          </a:p>
        </p:txBody>
      </p:sp>
      <p:sp>
        <p:nvSpPr>
          <p:cNvPr id="6" name="TextBox 5"/>
          <p:cNvSpPr txBox="1"/>
          <p:nvPr/>
        </p:nvSpPr>
        <p:spPr>
          <a:xfrm>
            <a:off x="640080" y="1572768"/>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0">
                <a:solidFill>
                  <a:srgbClr val="5B6470"/>
                </a:solidFill>
                <a:latin typeface="Arial"/>
              </a:rPr>
              <a:t>The key comparison</a:t>
            </a:r>
          </a:p>
        </p:txBody>
      </p:sp>
      <p:sp>
        <p:nvSpPr>
          <p:cNvPr id="7" name="Rectangle 6"/>
          <p:cNvSpPr/>
          <p:nvPr/>
        </p:nvSpPr>
        <p:spPr>
          <a:xfrm>
            <a:off x="640080" y="2148840"/>
            <a:ext cx="2743200" cy="548640"/>
          </a:xfrm>
          <a:prstGeom prst="rect">
            <a:avLst/>
          </a:prstGeom>
          <a:solidFill>
            <a:srgbClr val="2A3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2560320" cy="548640"/>
          </a:xfrm>
          <a:prstGeom prst="rect">
            <a:avLst/>
          </a:prstGeom>
          <a:noFill/>
        </p:spPr>
        <p:txBody>
          <a:bodyPr wrap="square" anchor="ctr" lIns="0" rIns="0" tIns="0" bIns="0">
            <a:spAutoFit/>
          </a:bodyPr>
          <a:lstStyle/>
          <a:p>
            <a:pPr algn="l">
              <a:lnSpc>
                <a:spcPct val="105000"/>
              </a:lnSpc>
              <a:spcBef>
                <a:spcPts val="0"/>
              </a:spcBef>
              <a:spcAft>
                <a:spcPts val="600"/>
              </a:spcAft>
            </a:pPr>
            <a:r>
              <a:rPr sz="1400" b="1">
                <a:solidFill>
                  <a:srgbClr val="FFFFFF"/>
                </a:solidFill>
                <a:latin typeface="Arial"/>
              </a:rPr>
              <a:t>Category</a:t>
            </a:r>
          </a:p>
        </p:txBody>
      </p:sp>
      <p:sp>
        <p:nvSpPr>
          <p:cNvPr id="9" name="Rectangle 8"/>
          <p:cNvSpPr/>
          <p:nvPr/>
        </p:nvSpPr>
        <p:spPr>
          <a:xfrm>
            <a:off x="3383280" y="2148840"/>
            <a:ext cx="4082796" cy="54864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148840"/>
            <a:ext cx="4082796" cy="548640"/>
          </a:xfrm>
          <a:prstGeom prst="rect">
            <a:avLst/>
          </a:prstGeom>
          <a:noFill/>
        </p:spPr>
        <p:txBody>
          <a:bodyPr wrap="square" anchor="ctr" lIns="0" rIns="0" tIns="0" bIns="0">
            <a:spAutoFit/>
          </a:bodyPr>
          <a:lstStyle/>
          <a:p>
            <a:pPr algn="ctr">
              <a:lnSpc>
                <a:spcPct val="105000"/>
              </a:lnSpc>
              <a:spcBef>
                <a:spcPts val="0"/>
              </a:spcBef>
              <a:spcAft>
                <a:spcPts val="600"/>
              </a:spcAft>
            </a:pPr>
            <a:r>
              <a:rPr sz="1600" b="1">
                <a:solidFill>
                  <a:srgbClr val="FFFFFF"/>
                </a:solidFill>
                <a:latin typeface="Arial"/>
              </a:rPr>
              <a:t>Harmony</a:t>
            </a:r>
          </a:p>
        </p:txBody>
      </p:sp>
      <p:sp>
        <p:nvSpPr>
          <p:cNvPr id="11" name="Rectangle 10"/>
          <p:cNvSpPr/>
          <p:nvPr/>
        </p:nvSpPr>
        <p:spPr>
          <a:xfrm>
            <a:off x="7466075" y="2148840"/>
            <a:ext cx="4082796" cy="548640"/>
          </a:xfrm>
          <a:prstGeom prst="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66075" y="2148840"/>
            <a:ext cx="4082796" cy="548640"/>
          </a:xfrm>
          <a:prstGeom prst="rect">
            <a:avLst/>
          </a:prstGeom>
          <a:noFill/>
        </p:spPr>
        <p:txBody>
          <a:bodyPr wrap="square" anchor="ctr" lIns="0" rIns="0" tIns="0" bIns="0">
            <a:spAutoFit/>
          </a:bodyPr>
          <a:lstStyle/>
          <a:p>
            <a:pPr algn="ctr">
              <a:lnSpc>
                <a:spcPct val="105000"/>
              </a:lnSpc>
              <a:spcBef>
                <a:spcPts val="0"/>
              </a:spcBef>
              <a:spcAft>
                <a:spcPts val="600"/>
              </a:spcAft>
            </a:pPr>
            <a:r>
              <a:rPr sz="1600" b="1">
                <a:solidFill>
                  <a:srgbClr val="FFFFFF"/>
                </a:solidFill>
                <a:latin typeface="Arial"/>
              </a:rPr>
              <a:t>scVI</a:t>
            </a:r>
          </a:p>
        </p:txBody>
      </p:sp>
      <p:sp>
        <p:nvSpPr>
          <p:cNvPr id="13" name="Rectangle 12"/>
          <p:cNvSpPr/>
          <p:nvPr/>
        </p:nvSpPr>
        <p:spPr>
          <a:xfrm>
            <a:off x="640080" y="2697480"/>
            <a:ext cx="10908792" cy="603504"/>
          </a:xfrm>
          <a:prstGeom prst="rect">
            <a:avLst/>
          </a:prstGeom>
          <a:solidFill>
            <a:srgbClr val="F3F5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697480"/>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697480"/>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Model type</a:t>
            </a:r>
          </a:p>
        </p:txBody>
      </p:sp>
      <p:sp>
        <p:nvSpPr>
          <p:cNvPr id="16" name="TextBox 15"/>
          <p:cNvSpPr txBox="1"/>
          <p:nvPr/>
        </p:nvSpPr>
        <p:spPr>
          <a:xfrm>
            <a:off x="3547872" y="2697480"/>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Iterative clustering + linear correction</a:t>
            </a:r>
          </a:p>
        </p:txBody>
      </p:sp>
      <p:sp>
        <p:nvSpPr>
          <p:cNvPr id="17" name="TextBox 16"/>
          <p:cNvSpPr txBox="1"/>
          <p:nvPr/>
        </p:nvSpPr>
        <p:spPr>
          <a:xfrm>
            <a:off x="7630667" y="2697480"/>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Deep generative model (VAE)</a:t>
            </a:r>
          </a:p>
        </p:txBody>
      </p:sp>
      <p:sp>
        <p:nvSpPr>
          <p:cNvPr id="18" name="Rectangle 17"/>
          <p:cNvSpPr/>
          <p:nvPr/>
        </p:nvSpPr>
        <p:spPr>
          <a:xfrm>
            <a:off x="640080" y="3300984"/>
            <a:ext cx="10908792" cy="60350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300984"/>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300984"/>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Input</a:t>
            </a:r>
          </a:p>
        </p:txBody>
      </p:sp>
      <p:sp>
        <p:nvSpPr>
          <p:cNvPr id="21" name="TextBox 20"/>
          <p:cNvSpPr txBox="1"/>
          <p:nvPr/>
        </p:nvSpPr>
        <p:spPr>
          <a:xfrm>
            <a:off x="3547872" y="3300984"/>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PCA embedding</a:t>
            </a:r>
          </a:p>
        </p:txBody>
      </p:sp>
      <p:sp>
        <p:nvSpPr>
          <p:cNvPr id="22" name="TextBox 21"/>
          <p:cNvSpPr txBox="1"/>
          <p:nvPr/>
        </p:nvSpPr>
        <p:spPr>
          <a:xfrm>
            <a:off x="7630667" y="3300984"/>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Raw counts</a:t>
            </a:r>
          </a:p>
        </p:txBody>
      </p:sp>
      <p:sp>
        <p:nvSpPr>
          <p:cNvPr id="23" name="Rectangle 22"/>
          <p:cNvSpPr/>
          <p:nvPr/>
        </p:nvSpPr>
        <p:spPr>
          <a:xfrm>
            <a:off x="640080" y="3904488"/>
            <a:ext cx="10908792" cy="603504"/>
          </a:xfrm>
          <a:prstGeom prst="rect">
            <a:avLst/>
          </a:prstGeom>
          <a:solidFill>
            <a:srgbClr val="F3F5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904488"/>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904488"/>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Speed / compute</a:t>
            </a:r>
          </a:p>
        </p:txBody>
      </p:sp>
      <p:sp>
        <p:nvSpPr>
          <p:cNvPr id="26" name="TextBox 25"/>
          <p:cNvSpPr txBox="1"/>
          <p:nvPr/>
        </p:nvSpPr>
        <p:spPr>
          <a:xfrm>
            <a:off x="3547872" y="3904488"/>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Fast · CPU-friendly</a:t>
            </a:r>
          </a:p>
        </p:txBody>
      </p:sp>
      <p:sp>
        <p:nvSpPr>
          <p:cNvPr id="27" name="TextBox 26"/>
          <p:cNvSpPr txBox="1"/>
          <p:nvPr/>
        </p:nvSpPr>
        <p:spPr>
          <a:xfrm>
            <a:off x="7630667" y="3904488"/>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Slower · GPU-preferred</a:t>
            </a:r>
          </a:p>
        </p:txBody>
      </p:sp>
      <p:sp>
        <p:nvSpPr>
          <p:cNvPr id="28" name="Rectangle 27"/>
          <p:cNvSpPr/>
          <p:nvPr/>
        </p:nvSpPr>
        <p:spPr>
          <a:xfrm>
            <a:off x="640080" y="4507992"/>
            <a:ext cx="10908792" cy="60350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4507992"/>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507992"/>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Scalability</a:t>
            </a:r>
          </a:p>
        </p:txBody>
      </p:sp>
      <p:sp>
        <p:nvSpPr>
          <p:cNvPr id="31" name="TextBox 30"/>
          <p:cNvSpPr txBox="1"/>
          <p:nvPr/>
        </p:nvSpPr>
        <p:spPr>
          <a:xfrm>
            <a:off x="3547872" y="4507992"/>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Good; very quick to re-run</a:t>
            </a:r>
          </a:p>
        </p:txBody>
      </p:sp>
      <p:sp>
        <p:nvSpPr>
          <p:cNvPr id="32" name="TextBox 31"/>
          <p:cNvSpPr txBox="1"/>
          <p:nvPr/>
        </p:nvSpPr>
        <p:spPr>
          <a:xfrm>
            <a:off x="7630667" y="4507992"/>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Excellent; scales to millions of cells</a:t>
            </a:r>
          </a:p>
        </p:txBody>
      </p:sp>
      <p:sp>
        <p:nvSpPr>
          <p:cNvPr id="33" name="Rectangle 32"/>
          <p:cNvSpPr/>
          <p:nvPr/>
        </p:nvSpPr>
        <p:spPr>
          <a:xfrm>
            <a:off x="640080" y="5111496"/>
            <a:ext cx="10908792" cy="603504"/>
          </a:xfrm>
          <a:prstGeom prst="rect">
            <a:avLst/>
          </a:prstGeom>
          <a:solidFill>
            <a:srgbClr val="F3F5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111496"/>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111496"/>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Extras</a:t>
            </a:r>
          </a:p>
        </p:txBody>
      </p:sp>
      <p:sp>
        <p:nvSpPr>
          <p:cNvPr id="36" name="TextBox 35"/>
          <p:cNvSpPr txBox="1"/>
          <p:nvPr/>
        </p:nvSpPr>
        <p:spPr>
          <a:xfrm>
            <a:off x="3547872" y="5111496"/>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Simple, robust, few knobs</a:t>
            </a:r>
          </a:p>
        </p:txBody>
      </p:sp>
      <p:sp>
        <p:nvSpPr>
          <p:cNvPr id="37" name="TextBox 36"/>
          <p:cNvSpPr txBox="1"/>
          <p:nvPr/>
        </p:nvSpPr>
        <p:spPr>
          <a:xfrm>
            <a:off x="7630667" y="5111496"/>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Denoising, DE, uncertainty</a:t>
            </a:r>
          </a:p>
        </p:txBody>
      </p:sp>
      <p:sp>
        <p:nvSpPr>
          <p:cNvPr id="38" name="Rectangle 37"/>
          <p:cNvSpPr/>
          <p:nvPr/>
        </p:nvSpPr>
        <p:spPr>
          <a:xfrm>
            <a:off x="640080" y="5715000"/>
            <a:ext cx="10908792" cy="60350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 y="5715000"/>
            <a:ext cx="2743200" cy="603504"/>
          </a:xfrm>
          <a:prstGeom prst="rect">
            <a:avLst/>
          </a:prstGeom>
          <a:solidFill>
            <a:srgbClr val="E7EBF1"/>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715000"/>
            <a:ext cx="2514600" cy="603504"/>
          </a:xfrm>
          <a:prstGeom prst="rect">
            <a:avLst/>
          </a:prstGeom>
          <a:noFill/>
        </p:spPr>
        <p:txBody>
          <a:bodyPr wrap="square" anchor="ctr" lIns="0" rIns="0" tIns="0" bIns="0">
            <a:spAutoFit/>
          </a:bodyPr>
          <a:lstStyle/>
          <a:p>
            <a:pPr algn="l">
              <a:lnSpc>
                <a:spcPct val="105000"/>
              </a:lnSpc>
              <a:spcBef>
                <a:spcPts val="0"/>
              </a:spcBef>
              <a:spcAft>
                <a:spcPts val="600"/>
              </a:spcAft>
            </a:pPr>
            <a:r>
              <a:rPr sz="1250" b="1">
                <a:solidFill>
                  <a:srgbClr val="1A202C"/>
                </a:solidFill>
                <a:latin typeface="Arial"/>
              </a:rPr>
              <a:t>When to use</a:t>
            </a:r>
          </a:p>
        </p:txBody>
      </p:sp>
      <p:sp>
        <p:nvSpPr>
          <p:cNvPr id="41" name="TextBox 40"/>
          <p:cNvSpPr txBox="1"/>
          <p:nvPr/>
        </p:nvSpPr>
        <p:spPr>
          <a:xfrm>
            <a:off x="3547872" y="5715000"/>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Quick first pass, CPU-only</a:t>
            </a:r>
          </a:p>
        </p:txBody>
      </p:sp>
      <p:sp>
        <p:nvSpPr>
          <p:cNvPr id="42" name="TextBox 41"/>
          <p:cNvSpPr txBox="1"/>
          <p:nvPr/>
        </p:nvSpPr>
        <p:spPr>
          <a:xfrm>
            <a:off x="7630667" y="5715000"/>
            <a:ext cx="3808476" cy="603504"/>
          </a:xfrm>
          <a:prstGeom prst="rect">
            <a:avLst/>
          </a:prstGeom>
          <a:noFill/>
        </p:spPr>
        <p:txBody>
          <a:bodyPr wrap="square" anchor="ctr" lIns="0" rIns="0" tIns="0" bIns="0">
            <a:spAutoFit/>
          </a:bodyPr>
          <a:lstStyle/>
          <a:p>
            <a:pPr algn="l">
              <a:lnSpc>
                <a:spcPct val="100000"/>
              </a:lnSpc>
              <a:spcBef>
                <a:spcPts val="0"/>
              </a:spcBef>
              <a:spcAft>
                <a:spcPts val="600"/>
              </a:spcAft>
            </a:pPr>
            <a:r>
              <a:rPr sz="1250" b="0">
                <a:solidFill>
                  <a:srgbClr val="1A202C"/>
                </a:solidFill>
                <a:latin typeface="Arial"/>
              </a:rPr>
              <a:t>Large data, GPU, deeper modelling</a:t>
            </a:r>
          </a:p>
        </p:txBody>
      </p:sp>
      <p:sp>
        <p:nvSpPr>
          <p:cNvPr id="43" name="Rectangle 42"/>
          <p:cNvSpPr/>
          <p:nvPr/>
        </p:nvSpPr>
        <p:spPr>
          <a:xfrm>
            <a:off x="3383280" y="2148840"/>
            <a:ext cx="18288" cy="416966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419088"/>
            <a:ext cx="7315200" cy="365760"/>
          </a:xfrm>
          <a:prstGeom prst="rect">
            <a:avLst/>
          </a:prstGeom>
          <a:noFill/>
        </p:spPr>
        <p:txBody>
          <a:bodyPr wrap="square" anchor="t" lIns="0" rIns="0" tIns="0" bIns="0">
            <a:spAutoFit/>
          </a:bodyPr>
          <a:lstStyle/>
          <a:p>
            <a:pPr algn="l">
              <a:lnSpc>
                <a:spcPct val="105000"/>
              </a:lnSpc>
              <a:spcBef>
                <a:spcPts val="0"/>
              </a:spcBef>
              <a:spcAft>
                <a:spcPts val="600"/>
              </a:spcAft>
            </a:pPr>
            <a:r>
              <a:rPr sz="1000" b="0">
                <a:solidFill>
                  <a:srgbClr val="5B6470"/>
                </a:solidFill>
                <a:latin typeface="Arial"/>
              </a:rPr>
              <a:t>CAJAL Neuromics 2026  ·  Project C10  ·  scRNA-seq data integration</a:t>
            </a:r>
          </a:p>
        </p:txBody>
      </p:sp>
      <p:sp>
        <p:nvSpPr>
          <p:cNvPr id="45" name="TextBox 44"/>
          <p:cNvSpPr txBox="1"/>
          <p:nvPr/>
        </p:nvSpPr>
        <p:spPr>
          <a:xfrm>
            <a:off x="10972800" y="6419088"/>
            <a:ext cx="822960" cy="365760"/>
          </a:xfrm>
          <a:prstGeom prst="rect">
            <a:avLst/>
          </a:prstGeom>
          <a:noFill/>
        </p:spPr>
        <p:txBody>
          <a:bodyPr wrap="square" anchor="t" lIns="0" rIns="0" tIns="0" bIns="0">
            <a:spAutoFit/>
          </a:bodyPr>
          <a:lstStyle/>
          <a:p>
            <a:pPr algn="r">
              <a:lnSpc>
                <a:spcPct val="105000"/>
              </a:lnSpc>
              <a:spcBef>
                <a:spcPts val="0"/>
              </a:spcBef>
              <a:spcAft>
                <a:spcPts val="600"/>
              </a:spcAft>
            </a:pPr>
            <a:r>
              <a:rPr sz="1000" b="1">
                <a:solidFill>
                  <a:srgbClr val="5B647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337560"/>
            <a:ext cx="12191695"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410712"/>
            <a:ext cx="12191695" cy="54864"/>
          </a:xfrm>
          <a:prstGeom prst="rect">
            <a:avLst/>
          </a:prstGeom>
          <a:solidFill>
            <a:srgbClr val="B03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51560"/>
            <a:ext cx="10515600" cy="54864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8FA6C8"/>
                </a:solidFill>
                <a:latin typeface="Arial"/>
              </a:rPr>
              <a:t>TAKEAWAY</a:t>
            </a:r>
          </a:p>
        </p:txBody>
      </p:sp>
      <p:sp>
        <p:nvSpPr>
          <p:cNvPr id="7" name="TextBox 6"/>
          <p:cNvSpPr txBox="1"/>
          <p:nvPr/>
        </p:nvSpPr>
        <p:spPr>
          <a:xfrm>
            <a:off x="822960" y="1783080"/>
            <a:ext cx="10607040" cy="1463040"/>
          </a:xfrm>
          <a:prstGeom prst="rect">
            <a:avLst/>
          </a:prstGeom>
          <a:noFill/>
        </p:spPr>
        <p:txBody>
          <a:bodyPr wrap="square" anchor="t" lIns="0" rIns="0" tIns="0" bIns="0">
            <a:spAutoFit/>
          </a:bodyPr>
          <a:lstStyle/>
          <a:p>
            <a:pPr algn="l">
              <a:lnSpc>
                <a:spcPct val="105000"/>
              </a:lnSpc>
              <a:spcBef>
                <a:spcPts val="0"/>
              </a:spcBef>
              <a:spcAft>
                <a:spcPts val="600"/>
              </a:spcAft>
            </a:pPr>
            <a:r>
              <a:rPr sz="3400" b="1">
                <a:solidFill>
                  <a:srgbClr val="FFFFFF"/>
                </a:solidFill>
                <a:latin typeface="Arial"/>
              </a:rPr>
              <a:t>Try both — then compare.</a:t>
            </a:r>
          </a:p>
        </p:txBody>
      </p:sp>
      <p:sp>
        <p:nvSpPr>
          <p:cNvPr id="8" name="TextBox 7"/>
          <p:cNvSpPr txBox="1"/>
          <p:nvPr/>
        </p:nvSpPr>
        <p:spPr>
          <a:xfrm>
            <a:off x="822960" y="3886200"/>
            <a:ext cx="10607040" cy="1828800"/>
          </a:xfrm>
          <a:prstGeom prst="rect">
            <a:avLst/>
          </a:prstGeom>
          <a:noFill/>
        </p:spPr>
        <p:txBody>
          <a:bodyPr wrap="square" anchor="t" lIns="0" rIns="0" tIns="0" bIns="0">
            <a:spAutoFit/>
          </a:bodyPr>
          <a:lstStyle/>
          <a:p>
            <a:pPr algn="l">
              <a:lnSpc>
                <a:spcPct val="115000"/>
              </a:lnSpc>
              <a:spcBef>
                <a:spcPts val="0"/>
              </a:spcBef>
              <a:spcAft>
                <a:spcPts val="1400"/>
              </a:spcAft>
            </a:pPr>
            <a:r>
              <a:rPr sz="2000" b="0">
                <a:solidFill>
                  <a:srgbClr val="C7D3E4"/>
                </a:solidFill>
                <a:latin typeface="Arial"/>
              </a:rPr>
              <a:t>Judge each method on how well it </a:t>
            </a:r>
            <a:r>
              <a:rPr sz="2000" b="1">
                <a:solidFill>
                  <a:srgbClr val="6FB4F0"/>
                </a:solidFill>
                <a:latin typeface="Arial"/>
              </a:rPr>
              <a:t>mixes donors</a:t>
            </a:r>
            <a:r>
              <a:rPr sz="2000" b="0">
                <a:solidFill>
                  <a:srgbClr val="C7D3E4"/>
                </a:solidFill>
                <a:latin typeface="Arial"/>
              </a:rPr>
              <a:t> while </a:t>
            </a:r>
            <a:r>
              <a:rPr sz="2000" b="1">
                <a:solidFill>
                  <a:srgbClr val="D98FE0"/>
                </a:solidFill>
                <a:latin typeface="Arial"/>
              </a:rPr>
              <a:t>preserving cell-type structure.</a:t>
            </a:r>
          </a:p>
          <a:p>
            <a:pPr algn="l">
              <a:lnSpc>
                <a:spcPct val="115000"/>
              </a:lnSpc>
              <a:spcBef>
                <a:spcPts val="0"/>
              </a:spcBef>
              <a:spcAft>
                <a:spcPts val="1400"/>
              </a:spcAft>
            </a:pPr>
            <a:r>
              <a:rPr sz="800" b="0">
                <a:solidFill>
                  <a:srgbClr val="5B6470"/>
                </a:solidFill>
                <a:latin typeface="Arial"/>
              </a:rPr>
              <a:t/>
            </a:r>
          </a:p>
          <a:p>
            <a:pPr algn="l">
              <a:lnSpc>
                <a:spcPct val="115000"/>
              </a:lnSpc>
              <a:spcBef>
                <a:spcPts val="0"/>
              </a:spcBef>
              <a:spcAft>
                <a:spcPts val="1400"/>
              </a:spcAft>
            </a:pPr>
            <a:r>
              <a:rPr sz="1500" b="0">
                <a:solidFill>
                  <a:srgbClr val="9FB0C8"/>
                </a:solidFill>
                <a:latin typeface="Arial"/>
              </a:rPr>
              <a:t>In the notebook: run integration, color the UMAP by donor and by cell type, and see which embedding balances both.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