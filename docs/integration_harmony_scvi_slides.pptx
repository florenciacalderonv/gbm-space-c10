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8229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504688"/>
            <a:ext cx="12191695" cy="82296"/>
          </a:xfrm>
          <a:prstGeom prst="rect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FA6C8"/>
                </a:solidFill>
                <a:latin typeface="Arial"/>
              </a:rPr>
              <a:t>DATA INTEGRATION IN SINGLE-CELL RNA-SEQ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Integrating single-cell data: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6FB4F0"/>
                </a:solidFill>
                <a:latin typeface="Arial"/>
              </a:rPr>
              <a:t>Harmony</a:t>
            </a:r>
            <a:r>
              <a:rPr sz="4200" b="1">
                <a:solidFill>
                  <a:srgbClr val="FFFFFF"/>
                </a:solidFill>
                <a:latin typeface="Arial"/>
              </a:rPr>
              <a:t> &amp; </a:t>
            </a:r>
            <a:r>
              <a:rPr sz="4200" b="1">
                <a:solidFill>
                  <a:srgbClr val="D98FE0"/>
                </a:solidFill>
                <a:latin typeface="Arial"/>
              </a:rPr>
              <a:t>scVI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9C6D9"/>
                </a:solidFill>
                <a:latin typeface="Arial"/>
              </a:rPr>
              <a:t>Removing batch / donor effects while preserving biology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06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E92B0"/>
                </a:solidFill>
                <a:latin typeface="Arial"/>
              </a:rPr>
              <a:t>Concept slides · CAJAL Neuromics 2026 · Project C10 (GBM spatial)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201168" cy="384048"/>
          </a:xfrm>
          <a:prstGeom prst="rect">
            <a:avLst/>
          </a:prstGeom>
          <a:solidFill>
            <a:srgbClr val="18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572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88A63"/>
                </a:solidFill>
                <a:latin typeface="Arial"/>
              </a:rPr>
              <a:t>THE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202C"/>
                </a:solidFill>
                <a:latin typeface="Arial"/>
              </a:rPr>
              <a:t>Why integrate?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470"/>
                </a:solidFill>
                <a:latin typeface="Arial"/>
              </a:rPr>
              <a:t>Same cell type, different samples — should cluster by biology, not by batch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>
                <a:solidFill>
                  <a:srgbClr val="188A63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Multiple donors / samples / runs → technical differences = batch effects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>
                <a:solidFill>
                  <a:srgbClr val="188A63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A T cell from donor A and donor B are the same cell type — they should mix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>
                <a:solidFill>
                  <a:srgbClr val="188A63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Goal: remove technical variation, keep biological signal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>
                <a:solidFill>
                  <a:srgbClr val="188A63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Integration aligns shared cell populations across samples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377440"/>
            <a:ext cx="2743200" cy="2331720"/>
          </a:xfrm>
          <a:prstGeom prst="roundRect">
            <a:avLst/>
          </a:prstGeom>
          <a:solidFill>
            <a:srgbClr val="F3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24871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Before: colored by donor</a:t>
            </a:r>
          </a:p>
        </p:txBody>
      </p:sp>
      <p:sp>
        <p:nvSpPr>
          <p:cNvPr id="10" name="Oval 9"/>
          <p:cNvSpPr/>
          <p:nvPr/>
        </p:nvSpPr>
        <p:spPr>
          <a:xfrm>
            <a:off x="7208278" y="4317560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4668" y="3133930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15695" y="4026976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85649" y="3440159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39375" y="3849809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17652" y="3234757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04747" y="355728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6574" y="4382014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03178" y="3763913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12922" y="3385439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01545" y="3055163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28315" y="3454326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65839" y="424069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75060" y="3786316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5317" y="3050243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20972" y="3205014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65852" y="4387314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89297" y="3266936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60300" y="4110355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35323" y="4261003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59921" y="4100737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42974" y="4363027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12784" y="3238600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150379" y="3998420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28356" y="3744955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47609" y="4286019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646" y="415803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43079" y="4228438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165008" y="3649844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7283" y="427984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029879" y="3684952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41604" y="3462833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011290" y="3245301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68617" y="3385297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173977" y="3442116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06577" y="3986151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61263" y="3727662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071580" y="3823944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13478" y="3302563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964413" y="4298806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52679" y="3120904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201377" y="4013232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71117" y="3280047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143296" y="3098113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975449" y="3392103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745295" y="4218343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55574" y="3733992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227142" y="3353331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35620" y="4225325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896073" y="4000903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498433" y="351452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703253" y="394028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537629" y="4326797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590699" y="4017997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90193" y="3368224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195966" y="3233023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615081" y="3965975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867383" y="3076719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34368" y="3225207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599090" y="3489626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35040" y="4343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94A3A"/>
                </a:solidFill>
                <a:latin typeface="Arial"/>
              </a:rPr>
              <a:t>SPLIT BY DONOR = bad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006840" y="2377440"/>
            <a:ext cx="2743200" cy="2331720"/>
          </a:xfrm>
          <a:prstGeom prst="roundRect">
            <a:avLst/>
          </a:prstGeom>
          <a:solidFill>
            <a:srgbClr val="F3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06840" y="24871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After integration</a:t>
            </a:r>
          </a:p>
        </p:txBody>
      </p:sp>
      <p:sp>
        <p:nvSpPr>
          <p:cNvPr id="73" name="Oval 72"/>
          <p:cNvSpPr/>
          <p:nvPr/>
        </p:nvSpPr>
        <p:spPr>
          <a:xfrm>
            <a:off x="9709765" y="4179860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860831" y="3367372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370091" y="3634041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655673" y="4099332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35690" y="3056401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92487" y="3611103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858097" y="302040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278564" y="4007184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882400" y="4314053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112570" y="3059477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510575" y="3760121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181555" y="3540379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860156" y="3596495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517149" y="3321592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264848" y="3697576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890304" y="3334176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864146" y="3647912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993992" y="304699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995802" y="3780752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638667" y="3272509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279203" y="4197022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685123" y="3473844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783490" y="3992990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602" y="3596481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0982009" y="3936911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018840" y="382344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077917" y="4178164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88103" y="382539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527180" y="3350462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922332" y="3585793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780435" y="3770252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749760" y="3942644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149296" y="3619599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393850" y="4085231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0416732" y="355690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0359591" y="305808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543569" y="398227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2093" y="3831130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183855" y="3251170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382533" y="4364536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0873172" y="3757659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037337" y="3335972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403625" y="4323924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520711" y="364726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956498" y="3769151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214414" y="3025350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897188" y="414289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084685" y="4033194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43795" y="3728939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490651" y="360194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566678" y="4210825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506454" y="3291619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387072" y="3682643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116537" y="3492200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448810" y="387269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84093" y="3645914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515200" y="3332446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788123" y="3819166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038653" y="4112658"/>
            <a:ext cx="68580" cy="6858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921772" y="4137345"/>
            <a:ext cx="68580" cy="68580"/>
          </a:xfrm>
          <a:prstGeom prst="ellipse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006840" y="4343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88A63"/>
                </a:solidFill>
                <a:latin typeface="Arial"/>
              </a:rPr>
              <a:t>MIXED = good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035040" y="4892040"/>
            <a:ext cx="146304" cy="146304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36208" y="482803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470"/>
                </a:solidFill>
                <a:latin typeface="Arial"/>
              </a:rPr>
              <a:t>donor A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15200" y="4892040"/>
            <a:ext cx="146304" cy="146304"/>
          </a:xfrm>
          <a:prstGeom prst="rect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516368" y="482803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470"/>
                </a:solidFill>
                <a:latin typeface="Arial"/>
              </a:rPr>
              <a:t>donor B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40080" y="5532120"/>
            <a:ext cx="10881360" cy="6858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14400" y="561441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202C"/>
                </a:solidFill>
                <a:latin typeface="Arial"/>
              </a:rPr>
              <a:t>Diagnostic: </a:t>
            </a:r>
            <a:r>
              <a:rPr sz="1400" b="0">
                <a:solidFill>
                  <a:srgbClr val="5B6470"/>
                </a:solidFill>
                <a:latin typeface="Arial"/>
              </a:rPr>
              <a:t>if the UMAP separates by donor, biology is confounded by batch. Well-integrated data mixes donors within each cell type.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0080" y="64190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470"/>
                </a:solidFill>
                <a:latin typeface="Arial"/>
              </a:rPr>
              <a:t>CAJAL Neuromics 2026  ·  Project C10  ·  scRNA-seq data integration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97280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B647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201168" cy="384048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572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86DE"/>
                </a:solidFill>
                <a:latin typeface="Arial"/>
              </a:rPr>
              <a:t>METHOD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202C"/>
                </a:solidFill>
                <a:latin typeface="Arial"/>
              </a:rPr>
              <a:t>Harmony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470"/>
                </a:solidFill>
                <a:latin typeface="Arial"/>
              </a:rPr>
              <a:t>Fast, CPU-friendly batch correction in PCA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61264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2E86DE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Operates on an existing PCA embedding (not raw counts)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2E86DE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Iterative loop: soft k-means clustering → estimate batch shifts → correct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2E86DE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Removes batch-associated offsets within each cluster, keeps cluster structure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2E86DE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Linear-ish correction, no neural network to train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2E86DE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Fast, runs comfortably on CPU — good default first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2E86DE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Returns a corrected embedding for neighbors / UMAP / clustering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2286000"/>
            <a:ext cx="4434840" cy="3566160"/>
          </a:xfrm>
          <a:prstGeom prst="roundRect">
            <a:avLst/>
          </a:prstGeom>
          <a:solidFill>
            <a:srgbClr val="F3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24231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86DE"/>
                </a:solidFill>
                <a:latin typeface="Arial"/>
              </a:rPr>
              <a:t>The Harmony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926080"/>
            <a:ext cx="397763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29260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PCA embedding (input)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328416"/>
            <a:ext cx="39776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E86DE"/>
                </a:solidFill>
                <a:latin typeface="Arial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3493008"/>
            <a:ext cx="397763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349300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Soft-cluster cells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895344"/>
            <a:ext cx="39776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E86DE"/>
                </a:solidFill>
                <a:latin typeface="Arial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4059936"/>
            <a:ext cx="397763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405993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Estimate batch shift / cluster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462272"/>
            <a:ext cx="39776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E86DE"/>
                </a:solidFill>
                <a:latin typeface="Arial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4626864"/>
            <a:ext cx="397763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462686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Subtract shift → correct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029200"/>
            <a:ext cx="39776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E86DE"/>
                </a:solidFill>
                <a:latin typeface="Arial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5193792"/>
            <a:ext cx="397763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79" y="5193792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Repeat until stable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470"/>
                </a:solidFill>
                <a:latin typeface="Arial"/>
              </a:rPr>
              <a:t>CAJAL Neuromics 2026  ·  Project C10  ·  scRNA-seq data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B647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201168" cy="384048"/>
          </a:xfrm>
          <a:prstGeom prst="rect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572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A6"/>
                </a:solidFill>
                <a:latin typeface="Arial"/>
              </a:rPr>
              <a:t>METHOD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202C"/>
                </a:solidFill>
                <a:latin typeface="Arial"/>
              </a:rPr>
              <a:t>scVI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470"/>
                </a:solidFill>
                <a:latin typeface="Arial"/>
              </a:rPr>
              <a:t>Deep generative model that learns a batch-free latent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61264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03AA6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Variational autoencoder (VAE) — a neural network model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03AA6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Models raw counts directly (negative-binomial), no pre-PCA needed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03AA6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Conditions on batch → factors technical variation out of the latent space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03AA6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Learns a low-dimensional latent embedding for downstream steps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03AA6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GPU-accelerated; scales to very large datasets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03AA6"/>
                </a:solidFill>
                <a:latin typeface="Arial"/>
              </a:rPr>
              <a:t>●  </a:t>
            </a:r>
            <a:r>
              <a:rPr sz="1500" b="0">
                <a:solidFill>
                  <a:srgbClr val="1A202C"/>
                </a:solidFill>
                <a:latin typeface="Arial"/>
              </a:rPr>
              <a:t>Probabilistic model → extras: denoising, normalized expression, 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2286000"/>
            <a:ext cx="4434840" cy="3566160"/>
          </a:xfrm>
          <a:prstGeom prst="roundRect">
            <a:avLst/>
          </a:prstGeom>
          <a:solidFill>
            <a:srgbClr val="F3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24231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B03AA6"/>
                </a:solidFill>
                <a:latin typeface="Arial"/>
              </a:rPr>
              <a:t>The VAE, conditioned on batch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063240"/>
            <a:ext cx="123444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3063240"/>
            <a:ext cx="1234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Arial"/>
              </a:rPr>
              <a:t>raw
counts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063240"/>
            <a:ext cx="1234440" cy="822960"/>
          </a:xfrm>
          <a:prstGeom prst="roundRect">
            <a:avLst/>
          </a:prstGeom>
          <a:noFill/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063240"/>
            <a:ext cx="1234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Arial"/>
              </a:rPr>
              <a:t>raw 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3063240"/>
            <a:ext cx="1097280" cy="822960"/>
          </a:xfrm>
          <a:prstGeom prst="roundRect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encoder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3063240"/>
            <a:ext cx="1234440" cy="822960"/>
          </a:xfrm>
          <a:prstGeom prst="roundRect">
            <a:avLst/>
          </a:prstGeom>
          <a:solidFill>
            <a:srgbClr val="EAD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0" y="3063240"/>
            <a:ext cx="1234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Arial"/>
              </a:rPr>
              <a:t>latent z
(batch-free)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063240"/>
            <a:ext cx="1234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Arial"/>
              </a:rPr>
              <a:t>latent z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470"/>
                </a:solidFill>
                <a:latin typeface="Arial"/>
              </a:rPr>
              <a:t>batch-free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24612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B6470"/>
                </a:solidFill>
                <a:latin typeface="Arial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2952" y="324612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B64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4160520"/>
            <a:ext cx="1097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3A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416052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3AA6"/>
                </a:solidFill>
                <a:latin typeface="Arial"/>
              </a:rPr>
              <a:t>batch label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91363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A6"/>
                </a:solidFill>
                <a:latin typeface="Arial"/>
              </a:rPr>
              <a:t>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892040"/>
            <a:ext cx="39776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B6470"/>
                </a:solidFill>
                <a:latin typeface="Arial"/>
              </a:rPr>
              <a:t>Batch is fed in as a covariate, so the latent space z captures biology with donor effects removed.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470"/>
                </a:solidFill>
                <a:latin typeface="Arial"/>
              </a:rPr>
              <a:t>CAJAL Neuromics 2026  ·  Project C10  ·  scRNA-seq data integration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B647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201168" cy="384048"/>
          </a:xfrm>
          <a:prstGeom prst="rect">
            <a:avLst/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572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202C"/>
                </a:solidFill>
                <a:latin typeface="Arial"/>
              </a:rPr>
              <a:t>SIDE BY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202C"/>
                </a:solidFill>
                <a:latin typeface="Arial"/>
              </a:rPr>
              <a:t>Harmony vs scVI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470"/>
                </a:solidFill>
                <a:latin typeface="Arial"/>
              </a:rPr>
              <a:t>The key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743200" cy="548640"/>
          </a:xfrm>
          <a:prstGeom prst="rect">
            <a:avLst/>
          </a:prstGeom>
          <a:solidFill>
            <a:srgbClr val="2A3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2148840"/>
            <a:ext cx="4082796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408279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Harmony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66075" y="2148840"/>
            <a:ext cx="4082796" cy="548640"/>
          </a:xfrm>
          <a:prstGeom prst="rect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6075" y="2148840"/>
            <a:ext cx="408279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scVI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97480"/>
            <a:ext cx="10908792" cy="603504"/>
          </a:xfrm>
          <a:prstGeom prst="rect">
            <a:avLst/>
          </a:prstGeom>
          <a:solidFill>
            <a:srgbClr val="F3F5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697480"/>
            <a:ext cx="2743200" cy="603504"/>
          </a:xfrm>
          <a:prstGeom prst="rect">
            <a:avLst/>
          </a:prstGeom>
          <a:solidFill>
            <a:srgbClr val="E7EBF1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97480"/>
            <a:ext cx="2514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Model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697480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Iterative clustering + linear correction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0667" y="2697480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Deep generative model (VAE)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00984"/>
            <a:ext cx="1090879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300984"/>
            <a:ext cx="2743200" cy="603504"/>
          </a:xfrm>
          <a:prstGeom prst="rect">
            <a:avLst/>
          </a:prstGeom>
          <a:solidFill>
            <a:srgbClr val="E7EBF1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300984"/>
            <a:ext cx="2514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3300984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PCA embedding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0667" y="3300984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Raw counts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04488"/>
            <a:ext cx="10908792" cy="603504"/>
          </a:xfrm>
          <a:prstGeom prst="rect">
            <a:avLst/>
          </a:prstGeom>
          <a:solidFill>
            <a:srgbClr val="F3F5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904488"/>
            <a:ext cx="2743200" cy="603504"/>
          </a:xfrm>
          <a:prstGeom prst="rect">
            <a:avLst/>
          </a:prstGeom>
          <a:solidFill>
            <a:srgbClr val="E7EBF1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904488"/>
            <a:ext cx="2514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Speed / compute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3904488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Fast · CPU-friendly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0667" y="3904488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Slower · GPU-preferred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507992"/>
            <a:ext cx="1090879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07992"/>
            <a:ext cx="2743200" cy="603504"/>
          </a:xfrm>
          <a:prstGeom prst="rect">
            <a:avLst/>
          </a:prstGeom>
          <a:solidFill>
            <a:srgbClr val="E7EBF1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507992"/>
            <a:ext cx="2514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Scalability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7872" y="4507992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Good; very quick to re-run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0667" y="4507992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Excellent; scales to millions of cells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111496"/>
            <a:ext cx="10908792" cy="603504"/>
          </a:xfrm>
          <a:prstGeom prst="rect">
            <a:avLst/>
          </a:prstGeom>
          <a:solidFill>
            <a:srgbClr val="F3F5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111496"/>
            <a:ext cx="2743200" cy="603504"/>
          </a:xfrm>
          <a:prstGeom prst="rect">
            <a:avLst/>
          </a:prstGeom>
          <a:solidFill>
            <a:srgbClr val="E7EBF1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111496"/>
            <a:ext cx="2514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Extras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47872" y="5111496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Simple, robust, few knobs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0667" y="5111496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Denoising, DE, uncertainty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715000"/>
            <a:ext cx="1090879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5715000"/>
            <a:ext cx="2743200" cy="603504"/>
          </a:xfrm>
          <a:prstGeom prst="rect">
            <a:avLst/>
          </a:prstGeom>
          <a:solidFill>
            <a:srgbClr val="E7EBF1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715000"/>
            <a:ext cx="2514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Arial"/>
              </a:rPr>
              <a:t>When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47872" y="5715000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Quick first pass, CPU-only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0667" y="5715000"/>
            <a:ext cx="38084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02C"/>
                </a:solidFill>
                <a:latin typeface="Arial"/>
              </a:rPr>
              <a:t>Large data, GPU, deeper modelling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2148840"/>
            <a:ext cx="18288" cy="41696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190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470"/>
                </a:solidFill>
                <a:latin typeface="Arial"/>
              </a:rPr>
              <a:t>CAJAL Neuromics 2026  ·  Project C10  ·  scRNA-seq data 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B647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33756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10712"/>
            <a:ext cx="12191695" cy="54864"/>
          </a:xfrm>
          <a:prstGeom prst="rect">
            <a:avLst/>
          </a:prstGeom>
          <a:solidFill>
            <a:srgbClr val="B0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FA6C8"/>
                </a:solidFill>
                <a:latin typeface="Arial"/>
              </a:rPr>
              <a:t>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Try both — then compare.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>
                <a:solidFill>
                  <a:srgbClr val="C7D3E4"/>
                </a:solidFill>
                <a:latin typeface="Arial"/>
              </a:rPr>
              <a:t>Judge each method on how well it </a:t>
            </a:r>
            <a:r>
              <a:rPr sz="2000" b="1">
                <a:solidFill>
                  <a:srgbClr val="6FB4F0"/>
                </a:solidFill>
                <a:latin typeface="Arial"/>
              </a:rPr>
              <a:t>mixes donors</a:t>
            </a:r>
            <a:r>
              <a:rPr sz="2000" b="0">
                <a:solidFill>
                  <a:srgbClr val="C7D3E4"/>
                </a:solidFill>
                <a:latin typeface="Arial"/>
              </a:rPr>
              <a:t> while </a:t>
            </a:r>
            <a:r>
              <a:rPr sz="2000" b="1">
                <a:solidFill>
                  <a:srgbClr val="D98FE0"/>
                </a:solidFill>
                <a:latin typeface="Arial"/>
              </a:rPr>
              <a:t>preserving cell-type structure.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800" b="0">
                <a:solidFill>
                  <a:srgbClr val="5B6470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9FB0C8"/>
                </a:solidFill>
                <a:latin typeface="Arial"/>
              </a:rPr>
              <a:t>In the notebook: run integration, color the UMAP by donor and by cell type, and see which embedding balances both.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